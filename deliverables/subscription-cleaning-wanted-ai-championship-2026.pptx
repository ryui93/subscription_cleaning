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808dd85ff44e44" /><Relationship Type="http://schemas.openxmlformats.org/officeDocument/2006/relationships/extended-properties" Target="/docProps/app.xml" Id="R0360581b780b4e84" /><Relationship Type="http://schemas.openxmlformats.org/officeDocument/2006/relationships/officeDocument" Target="/ppt/presentation.xml" Id="R58e4ca5e59db462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252781b9a142ce"/>
  </p:sldMasterIdLst>
  <p:notesMasterIdLst>
    <p:notesMasterId xmlns:r="http://schemas.openxmlformats.org/officeDocument/2006/relationships" r:id="Rc065c826e8ad49f0"/>
  </p:notesMasterIdLst>
  <p:sldIdLst>
    <p:sldId xmlns:r="http://schemas.openxmlformats.org/officeDocument/2006/relationships" id="256" r:id="R529bd0d86ee4431e"/>
    <p:sldId xmlns:r="http://schemas.openxmlformats.org/officeDocument/2006/relationships" id="257" r:id="Rd6fdf6d770924428"/>
    <p:sldId xmlns:r="http://schemas.openxmlformats.org/officeDocument/2006/relationships" id="258" r:id="R7fe8550b04f340ac"/>
    <p:sldId xmlns:r="http://schemas.openxmlformats.org/officeDocument/2006/relationships" id="259" r:id="Rb3ee4a4ff9de4d0a"/>
    <p:sldId xmlns:r="http://schemas.openxmlformats.org/officeDocument/2006/relationships" id="260" r:id="Rf1d4713bc09845b5"/>
    <p:sldId xmlns:r="http://schemas.openxmlformats.org/officeDocument/2006/relationships" id="261" r:id="R3f0628f01c3d47b9"/>
    <p:sldId xmlns:r="http://schemas.openxmlformats.org/officeDocument/2006/relationships" id="262" r:id="R338f942093ef4f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b8bcb14dc144ff" /><Relationship Type="http://schemas.openxmlformats.org/officeDocument/2006/relationships/slideMaster" Target="/ppt/slideMasters/slideMaster1.xml" Id="Rb1252781b9a142ce" /><Relationship Type="http://schemas.openxmlformats.org/officeDocument/2006/relationships/notesMaster" Target="/ppt/notesMasters/notesMaster1.xml" Id="Rc065c826e8ad49f0" /><Relationship Type="http://schemas.openxmlformats.org/officeDocument/2006/relationships/presProps" Target="/ppt/presProps.xml" Id="R1241f32036cf42bb" /><Relationship Type="http://schemas.openxmlformats.org/officeDocument/2006/relationships/tableStyles" Target="/ppt/tableStyles.xml" Id="R1af89dcbda1f4ef5" /><Relationship Type="http://schemas.openxmlformats.org/officeDocument/2006/relationships/slide" Target="/ppt/slides/slide1.xml" Id="R529bd0d86ee4431e" /><Relationship Type="http://schemas.openxmlformats.org/officeDocument/2006/relationships/slide" Target="/ppt/slides/slide2.xml" Id="Rd6fdf6d770924428" /><Relationship Type="http://schemas.openxmlformats.org/officeDocument/2006/relationships/slide" Target="/ppt/slides/slide3.xml" Id="R7fe8550b04f340ac" /><Relationship Type="http://schemas.openxmlformats.org/officeDocument/2006/relationships/slide" Target="/ppt/slides/slide4.xml" Id="Rb3ee4a4ff9de4d0a" /><Relationship Type="http://schemas.openxmlformats.org/officeDocument/2006/relationships/slide" Target="/ppt/slides/slide5.xml" Id="Rf1d4713bc09845b5" /><Relationship Type="http://schemas.openxmlformats.org/officeDocument/2006/relationships/slide" Target="/ppt/slides/slide6.xml" Id="R3f0628f01c3d47b9" /><Relationship Type="http://schemas.openxmlformats.org/officeDocument/2006/relationships/slide" Target="/ppt/slides/slide7.xml" Id="R338f942093ef4f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4530a1f7954d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d16d4b947d41df" /><Relationship Type="http://schemas.openxmlformats.org/officeDocument/2006/relationships/notesMaster" Target="/ppt/notesMasters/notesMaster1.xml" Id="R163912c3fa2e41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7b9dfaaec9941f7" /><Relationship Type="http://schemas.openxmlformats.org/officeDocument/2006/relationships/notesMaster" Target="/ppt/notesMasters/notesMaster1.xml" Id="R7c4835dd5b0848c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c0f7368ca147b8" /><Relationship Type="http://schemas.openxmlformats.org/officeDocument/2006/relationships/notesMaster" Target="/ppt/notesMasters/notesMaster1.xml" Id="R8bf17424310a4dd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53cbb22dac4204" /><Relationship Type="http://schemas.openxmlformats.org/officeDocument/2006/relationships/notesMaster" Target="/ppt/notesMasters/notesMaster1.xml" Id="R69b3d3cfb8dd456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69d4d3642c4a4f" /><Relationship Type="http://schemas.openxmlformats.org/officeDocument/2006/relationships/notesMaster" Target="/ppt/notesMasters/notesMaster1.xml" Id="R7b53abe4512c45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d40735931a40ab" /><Relationship Type="http://schemas.openxmlformats.org/officeDocument/2006/relationships/notesMaster" Target="/ppt/notesMasters/notesMaster1.xml" Id="R4f3b6665353a4c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2aa0422dda84763" /><Relationship Type="http://schemas.openxmlformats.org/officeDocument/2006/relationships/notesMaster" Target="/ppt/notesMasters/notesMaster1.xml" Id="R3212c00a4bab4c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이름과 한 문장 가치 제안을 먼저 보여줍니다. 이 프로젝트는 반복 결제를 찾는 데서 끝나지 않고, AI가 사용자가 취할 다음 행동까지 설명하는 점이 핵심입니다.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반복 결제 관리의 문제를 ‘기록 부족’이 아니라 ‘판단할 수 있는 형태로 보이지 않음’으로 정의합니다.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서비스의 전체 흐름을 4단계로 보여줍니다. 입력 장벽을 낮추고, 결과를 행동으로 연결하는 것이 중요한 설계입니다.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시연 화면은 샘플 결제내역을 분석한 실제 로컬 실행 결과입니다. 14건에서 5개 후보가 생성되고, 결제처가 통합·분류됩니다. 후보 카드의 AI 설명 버튼을 누르면 설명 모달이 열립니다.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기능의 핵심은 데이터를 더 많이 보내는 것이 아니라, 필요한 정보만 구조화해서 보내는 것입니다. Google Gemini API 호출은 Vercel 서버 함수에서 수행하고, 연결이 없을 때도 시연 가능한 대체 설명을 둡니다.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Gemini Generate Content API: https://ai.google.dev/api/generate-content</a:t>
            </a:r>
          </a:p>
          <a:p xmlns:a="http://schemas.openxmlformats.org/drawingml/2006/main">
            <a:r>
              <a:t>- Gemini structured outputs: https://ai.google.dev/gemini-api/docs/structured-output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AI를 기능 시연으로 끝내지 않고, 결제처 통합과 분류 결과를 사용자의 상태 선택과 절약 목표 확인까지 연결합니다.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마지막에는 기능 목록보다 사용자가 얻게 되는 행동 변화를 남깁니다. 공식 대회는 자유 주제이며 실제 문제 해결과 AI 활용 적절성을 평가하므로, 서비스 링크와 AI 기능을 함께 제시합니다.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Wanted AI Championship 2026 official guide: https://static.wanted.co.kr/ai-championship/2026/landing.html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implementation: Subscription Cleaning repository</a:t>
            </a:r>
          </a:p>
          <a:p xmlns:a="http://schemas.openxmlformats.org/drawingml/2006/main">
            <a:r>
              <a:t>- Official event information: https://event.wanted.co.kr/ai-championship/2026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f0bad0871b41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55b19c779f4a46" /><Relationship Type="http://schemas.openxmlformats.org/officeDocument/2006/relationships/slideLayout" Target="/ppt/slideLayouts/slideLayout1.xml" Id="Ra1fb1e080fe7401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fb1e080fe7401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7af27ef13f41a6" /><Relationship Type="http://schemas.openxmlformats.org/officeDocument/2006/relationships/image" Target="/ppt/media/image.png" Id="R92e1629d2bc44079" /><Relationship Type="http://schemas.openxmlformats.org/officeDocument/2006/relationships/notesSlide" Target="/ppt/notesSlides/notesSlide1.xml" Id="R96779b1b00d749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751c711c34825" /><Relationship Type="http://schemas.openxmlformats.org/officeDocument/2006/relationships/notesSlide" Target="/ppt/notesSlides/notesSlide2.xml" Id="R0d24c29607924a5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76e11ca7e4cb8" /><Relationship Type="http://schemas.openxmlformats.org/officeDocument/2006/relationships/notesSlide" Target="/ppt/notesSlides/notesSlide3.xml" Id="R9c51b3ef4ae14f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e090fe8334188" /><Relationship Type="http://schemas.openxmlformats.org/officeDocument/2006/relationships/image" Target="/ppt/media/image2.png" Id="R6502d5154b6548b6" /><Relationship Type="http://schemas.openxmlformats.org/officeDocument/2006/relationships/notesSlide" Target="/ppt/notesSlides/notesSlide4.xml" Id="R001cd049b85d419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29de2a49ff44ef" /><Relationship Type="http://schemas.openxmlformats.org/officeDocument/2006/relationships/notesSlide" Target="/ppt/notesSlides/notesSlide5.xml" Id="R5e61c5fbd0ee46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6c422c6e5b4d59" /><Relationship Type="http://schemas.openxmlformats.org/officeDocument/2006/relationships/notesSlide" Target="/ppt/notesSlides/notesSlide6.xml" Id="R3262e8e72f964d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fd0d37dc9447a" /><Relationship Type="http://schemas.openxmlformats.org/officeDocument/2006/relationships/notesSlide" Target="/ppt/notesSlides/notesSlide7.xml" Id="Rc3d24766d88a4d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19BC6E-F26D-4781-AD88-0D6807BAE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E7C9A-582B-4540-8FC1-2F5E0B7D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42950"/>
            <a:ext cx="457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B75C7-2D38-4E0B-AEF9-7D46D284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95450"/>
            <a:ext cx="5334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결제내역을 붙여넣으면</a:t>
            </a:r>
          </a:p>
          <a:p xmlns:a="http://schemas.openxmlformats.org/drawingml/2006/main">
            <a:pPr algn="l">
              <a:defRPr sz="2250" b="1" i="0">
                <a:solidFill>
                  <a:srgbClr val="DFEEE7"/>
                </a:solidFill>
              </a:defRPr>
            </a:pPr>
            <a:r>
              <a:rPr sz="2250" b="1" i="0">
                <a:solidFill>
                  <a:srgbClr val="DFEEE7"/>
                </a:solidFill>
              </a:rPr>
              <a:t>AI가 다음 행동까지 설명합니다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2AE35-2FDB-488D-8DDF-D9B55B3E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531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Wanted AI Championship 2026  ·  출품 발표자료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48D2A-11AC-4C93-A7BE-34ECB6C7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723900"/>
            <a:ext cx="3048000" cy="533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FFFDFA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e1629d2bc44079"/>
          <a:stretch xmlns:a="http://schemas.openxmlformats.org/drawingml/2006/main"/>
        </p:blipFill>
        <p:spPr>
          <a:xfrm xmlns:a="http://schemas.openxmlformats.org/drawingml/2006/main">
            <a:off x="8286750" y="1020233"/>
            <a:ext cx="2667000" cy="4741333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</p:spTree>
    <p:extLst>
      <p:ext uri="{BB962C8B-B14F-4D97-AF65-F5344CB8AC3E}">
        <p14:creationId xmlns:p14="http://schemas.microsoft.com/office/powerpoint/2010/main" val="21117040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5E653-4532-495C-A234-DE4121B7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F86E7-6574-4C93-B30B-2809F612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문제는 지출이 아니라 기억의 빈틈입니다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9ABD5D-9A76-4219-952D-47E4E18C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AAFF2-0895-4350-9F7C-DE761D8E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723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매달 빠져나가는 결제는 여러 카드와 서비스에 흩어져 있고,</a:t>
            </a:r>
          </a:p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사용자는 그 결제가 아직 필요한지 다시 판단할 순간을 놓칩니다.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0BFD26-0BC4-4221-A832-3F9A2CD0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E88EF-21F4-4AEA-B535-A77EA11C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8060"/>
                </a:solidFill>
              </a:defRPr>
            </a:pPr>
            <a:r>
              <a:rPr sz="1650" b="1" i="0">
                <a:solidFill>
                  <a:srgbClr val="118060"/>
                </a:solidFill>
              </a:rPr>
              <a:t>흩어진 흔적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0F1D0E-5EF3-4A6F-BB26-5BFBBEFF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 문자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카드앱 알림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앱스토어·간편결제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E9264D-0251-4854-95F8-3719C3A6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276600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487AB-B982-4ED6-BCBA-FD93E12D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E0644F"/>
                </a:solidFill>
              </a:defRPr>
            </a:pPr>
            <a:r>
              <a:rPr sz="1650" b="1" i="0">
                <a:solidFill>
                  <a:srgbClr val="E0644F"/>
                </a:solidFill>
              </a:rPr>
              <a:t>놓치는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C6766-4FD6-4161-A04B-F2C13932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81450"/>
            <a:ext cx="2476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이게 구독인가?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다음 결제일은 언제인가?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계속 써야 하나?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C299A2-1AD2-45DE-A5AD-DAB2BBD55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857500" cy="2647950"/>
          </a:xfrm>
          <a:prstGeom xmlns:a="http://schemas.openxmlformats.org/drawingml/2006/main" prst="roundRect">
            <a:avLst>
              <a:gd name="adj" fmla="val 575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2FECFA-1191-476C-9EA8-89EDB13B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194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FD23F"/>
                </a:solidFill>
              </a:defRPr>
            </a:pPr>
            <a:r>
              <a:rPr sz="1500" b="1" i="0">
                <a:solidFill>
                  <a:srgbClr val="FFD23F"/>
                </a:solidFill>
              </a:rPr>
              <a:t>구독청소의 질문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2A5A1-A569-4B25-A232-E74C46198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2095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“이번 달에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반복해서 빠지는 돈은</a:t>
            </a:r>
          </a:p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얼마인가?”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2AA9F-F136-4C72-913F-C6FBDBC4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9757382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0BAAC3-D763-4750-B5D9-98BFA9A5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3138D-5961-4DE6-B00A-263D8F72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붙여넣기 한 번이 점검 루틴을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AA1E7-A6C5-46BD-B1C0-20C8A1C6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AC5A0-C267-408B-8326-012D1687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3282E-AE2B-4AC2-92E6-467CABCD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A0DA3F-6A40-4EC3-8C7F-7D899D6D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B5BA1-D52F-439B-8780-71F50CCB2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붙여넣기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911762-6450-477C-AEF0-97412A29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카드 문자·앱 알림·CSV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ACF3CF-BAF4-4D80-889B-C42D37B8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45E78C-713D-4F84-B596-08E4199F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46DB8-6101-40B7-B78C-CCDEA037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AE6BB0-6853-4177-A8EB-6E64C68C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통합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FE4031-4D1D-47C4-98D1-393437BB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APPLE.COM/BILL → Apple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EB9E6-8E6F-4C86-BBCC-C848A058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14325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89919C-FC04-46A8-8E91-B6B8B6D2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4F6F1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09CD1-1C06-46FC-8908-8D8397B5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125F85-30C7-4FAC-BC36-1A6E50CC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후보화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5F0DB7-1006-437E-84C5-E144EBEC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756E"/>
                </a:solidFill>
              </a:defRPr>
            </a:pPr>
            <a:r>
              <a:rPr sz="1275" b="0" i="0">
                <a:solidFill>
                  <a:srgbClr val="63756E"/>
                </a:solidFill>
              </a:rPr>
              <a:t>분류·주기·신뢰도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AF01CE-461C-430E-AD3F-767CF50E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24100"/>
            <a:ext cx="213360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5D2317-7EF3-4401-A704-495AEC89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5717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D23F"/>
                </a:solidFill>
              </a:defRPr>
            </a:pPr>
            <a:r>
              <a:rPr sz="1200" b="1" i="0">
                <a:solidFill>
                  <a:srgbClr val="FFD23F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B2C4E4-754B-4FB0-9FF7-1789F01B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971800"/>
            <a:ext cx="1695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행동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71F89-23C1-4D9B-B12B-0C71D014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242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DFEEE7"/>
                </a:solidFill>
              </a:defRPr>
            </a:pPr>
            <a:r>
              <a:rPr sz="1275" b="1" i="0">
                <a:solidFill>
                  <a:srgbClr val="DFEEE7"/>
                </a:solidFill>
              </a:rPr>
              <a:t>우선순위·절약액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DA002B-7902-485C-9C1E-71B0B199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3756E"/>
                </a:solidFill>
              </a:defRPr>
            </a:pPr>
            <a:r>
              <a:rPr sz="1500" b="1" i="0">
                <a:solidFill>
                  <a:srgbClr val="63756E"/>
                </a:solidFill>
              </a:rPr>
              <a:t>기본 분석은 브라우저에서 실행되고, 사용자가 원할 때만 민감정보를 제거한 요약값으로 AI 설명을 요청합니다.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BA2151-54B4-48E6-A45A-23ED58C7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106292299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A4C11-4FFC-45A8-AC3D-74CE8EAE4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2125E-8FDF-46F3-86DE-FEDDC949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14건의 결제내역이 5개 후보와 1년 예상액으로 바뀝니다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150FC-BDAB-47AF-BFC3-64F4CBBF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FC130-FBA8-41A9-8768-54658975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샘플 입력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4C8D8B-9C63-4BB4-AE82-28B1B54B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13251F"/>
                </a:solidFill>
              </a:defRPr>
            </a:pPr>
            <a:r>
              <a:rPr sz="4350" b="1" i="0">
                <a:solidFill>
                  <a:srgbClr val="13251F"/>
                </a:solidFill>
              </a:rPr>
              <a:t>14건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A4DEA5-E58C-4A9D-B49B-59C50094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카드 승인 문자와 결제내역을</a:t>
            </a:r>
          </a:p>
          <a:p xmlns:a="http://schemas.openxmlformats.org/drawingml/2006/main">
            <a:pPr algn="l">
              <a:defRPr sz="1425" b="0" i="0">
                <a:solidFill>
                  <a:srgbClr val="63756E"/>
                </a:solidFill>
              </a:defRPr>
            </a:pPr>
            <a:r>
              <a:rPr sz="1425" b="0" i="0">
                <a:solidFill>
                  <a:srgbClr val="63756E"/>
                </a:solidFill>
              </a:rPr>
              <a:t>한 번에 붙여넣습니다.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344995-9F2F-42EB-8F3C-68841A7C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143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92A5D1-338A-45A0-BE73-4638ADB2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72000"/>
            <a:ext cx="2686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D23F"/>
                </a:solidFill>
              </a:defRPr>
            </a:pPr>
            <a:r>
              <a:rPr sz="1650" b="1" i="0">
                <a:solidFill>
                  <a:srgbClr val="FFD23F"/>
                </a:solidFill>
              </a:rPr>
              <a:t>5개 후보  ·  월 63,790원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3AF9F3-6172-45E1-8333-40AF609B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911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FEEE7"/>
                </a:solidFill>
              </a:defRPr>
            </a:pPr>
            <a:r>
              <a:rPr sz="1200" b="0" i="0">
                <a:solidFill>
                  <a:srgbClr val="DFEEE7"/>
                </a:solidFill>
              </a:rPr>
              <a:t>연 765,480원  ·  반복 주기와 분류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48BE4-3B87-4A8E-8D02-765085B4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28800"/>
            <a:ext cx="6096000" cy="434340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DFA"/>
          </a:solidFill>
          <a:ln xmlns:a="http://schemas.openxmlformats.org/drawingml/2006/main" w="9525">
            <a:solidFill>
              <a:srgbClr val="CBD8D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2d5154b6548b6"/>
          <a:stretch xmlns:a="http://schemas.openxmlformats.org/drawingml/2006/main"/>
        </p:blipFill>
        <p:spPr>
          <a:xfrm xmlns:a="http://schemas.openxmlformats.org/drawingml/2006/main">
            <a:off x="5029200" y="2044898"/>
            <a:ext cx="5562600" cy="3911203"/>
          </a:xfrm>
          <a:prstGeom xmlns:a="http://schemas.openxmlformats.org/drawingml/2006/main" prst="roundRect">
            <a:avLst>
              <a:gd name="adj" fmla="val 283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F847A-2E44-4DA2-962C-8832E0D5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5685614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3CE9FF-217B-4ADB-B2AF-5A8D9F3A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A7A1C3-029D-4356-BB67-2535A3F7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필요한 요약만 읽고, 선택할 때 실행됩니다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970624-7A3E-4792-9677-5ABC6FDC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FBED4-0BFB-4C7A-916C-71F34BE9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DFEEE7"/>
          </a:solidFill>
          <a:ln xmlns:a="http://schemas.openxmlformats.org/drawingml/2006/main" w="9525">
            <a:solidFill>
              <a:srgbClr val="DFE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079ED2-CF83-45AA-94B5-88DB968F7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브라우저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79272-838A-403A-92B0-948FA283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결제처 통합·분류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주기·금액·신뢰도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민감정보 제거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8D2DA1-9D13-472C-BBC0-6C6D33C18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03D2F7-2F77-4BBD-99AA-BD002AB2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3251F"/>
                </a:solidFill>
              </a:defRPr>
            </a:pPr>
            <a:r>
              <a:rPr sz="1800" b="1" i="0">
                <a:solidFill>
                  <a:srgbClr val="13251F"/>
                </a:solidFill>
              </a:rPr>
              <a:t>Vercel 함수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AC294-1120-4358-8725-70712058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Gemini API 호출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API 키 서버 보관</a:t>
            </a:r>
          </a:p>
          <a:p xmlns:a="http://schemas.openxmlformats.org/drawingml/2006/main">
            <a:pPr algn="l">
              <a:defRPr sz="1425" b="0" i="0">
                <a:solidFill>
                  <a:srgbClr val="13251F"/>
                </a:solidFill>
              </a:defRPr>
            </a:pPr>
            <a:r>
              <a:rPr sz="1425" b="0" i="0">
                <a:solidFill>
                  <a:srgbClr val="13251F"/>
                </a:solidFill>
              </a:rPr>
              <a:t>요약값만 전달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168CA8-69EA-4890-9020-4D5DFDCE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28600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E7CFE4-4C8F-48EC-875B-509C2BF8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57175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AI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0096E-210C-447B-B315-4A22D666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4325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후보 설명·우선순위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월·1년 절약액</a:t>
            </a:r>
          </a:p>
          <a:p xmlns:a="http://schemas.openxmlformats.org/drawingml/2006/main">
            <a:pPr algn="l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다음 행동·주의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F645F0-C956-451A-9AE6-8A1885D8A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원문·카드번호 전송 없음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43843-4A20-4830-A287-F2C7C1B0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AI 분석 하루 5회 · 사용량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22472-7610-49CE-BB67-19C1B4B6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67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8060"/>
                </a:solidFill>
              </a:defRPr>
            </a:pPr>
            <a:r>
              <a:rPr sz="1575" b="1" i="0">
                <a:solidFill>
                  <a:srgbClr val="118060"/>
                </a:solidFill>
              </a:rPr>
              <a:t>실패 시 로컬 자동 설명으로 계속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05F78C-B61C-4B07-A05D-87161F8C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20640823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0175E7-7950-4161-99F2-0DCB4695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8060"/>
                </a:solidFill>
              </a:defRPr>
            </a:pPr>
            <a:r>
              <a:rPr sz="1200" b="1" i="0">
                <a:solidFill>
                  <a:srgbClr val="118060"/>
                </a:solidFill>
              </a:rPr>
              <a:t>OUTCOME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0A858D-2712-444B-A408-6C84F56A9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13251F"/>
                </a:solidFill>
              </a:defRPr>
            </a:pPr>
            <a:r>
              <a:rPr sz="2700" b="1" i="0">
                <a:solidFill>
                  <a:srgbClr val="13251F"/>
                </a:solidFill>
              </a:rPr>
              <a:t>우선순위와 절약액이 다음 행동을 만듭니다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01F9D-A344-41CB-A5A6-05BF4E7F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19100"/>
            <a:ext cx="64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 i="0">
                <a:solidFill>
                  <a:srgbClr val="63756E"/>
                </a:solidFill>
              </a:defRPr>
            </a:pPr>
            <a:r>
              <a:rPr sz="1200" b="1" i="0">
                <a:solidFill>
                  <a:srgbClr val="63756E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798779-CCB8-4162-A0A4-CB8A9B08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5715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D2921"/>
          </a:solidFill>
          <a:ln xmlns:a="http://schemas.openxmlformats.org/drawingml/2006/main" w="9525">
            <a:solidFill>
              <a:srgbClr val="0D292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222944-6F17-45A2-A948-855491E1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AI 설명 예시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3DC72-662E-42DD-B2D3-5F12678E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판단  최근 3개월 월간 반복 결제 후보입니다.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영향  월 17,000원 · 1년 204,000원입니다.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우선순위  모름 상태라 이용 여부를 먼저 확인하세요.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다음 행동  필요하면 해지예정으로 표시하세요.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622D7-DF18-4073-9F5B-4C72925C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101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3756E"/>
                </a:solidFill>
              </a:defRPr>
            </a:pPr>
            <a:r>
              <a:rPr sz="1125" b="0" i="0">
                <a:solidFill>
                  <a:srgbClr val="63756E"/>
                </a:solidFill>
              </a:rPr>
              <a:t>참고 정보이며 카드사 조회나 해지 대행이 아닙니다.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55647-F054-45E9-A0A3-FBC69088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95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8060"/>
                </a:solidFill>
              </a:defRPr>
            </a:pPr>
            <a:r>
              <a:rPr sz="1350" b="1" i="0">
                <a:solidFill>
                  <a:srgbClr val="118060"/>
                </a:solidFill>
              </a:rPr>
              <a:t>결과 화면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91591B-8007-4E61-A953-C60C292E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810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해지예정으로 표시하면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우선순위와 월·1년 절약액,</a:t>
            </a:r>
          </a:p>
          <a:p xmlns:a="http://schemas.openxmlformats.org/drawingml/2006/main">
            <a:pPr algn="l">
              <a:defRPr sz="2100" b="1" i="0">
                <a:solidFill>
                  <a:srgbClr val="13251F"/>
                </a:solidFill>
              </a:defRPr>
            </a:pPr>
            <a:r>
              <a:rPr sz="2100" b="1" i="0">
                <a:solidFill>
                  <a:srgbClr val="13251F"/>
                </a:solidFill>
              </a:rPr>
              <a:t>목표 진행률이 즉시 갱신됩니다.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99D08C-738D-4B94-86B7-06408B05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2910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7A31B-5C00-40B7-ACF8-76382D13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62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0D2921"/>
                </a:solidFill>
              </a:defRPr>
            </a:pPr>
            <a:r>
              <a:rPr sz="1575" b="1" i="0">
                <a:solidFill>
                  <a:srgbClr val="0D2921"/>
                </a:solidFill>
              </a:rPr>
              <a:t>분석 → 이해 →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FFA557-3863-49C4-8DAD-EF0BC1FD0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3756E"/>
                </a:solidFill>
              </a:defRPr>
            </a:pPr>
            <a:r>
              <a:rPr sz="1050" b="0" i="0">
                <a:solidFill>
                  <a:srgbClr val="63756E"/>
                </a:solidFill>
              </a:rPr>
              <a:t>구독청소  ·  Wanted AI Championship 2026</a:t>
            </a:r>
          </a:p>
        </p:txBody>
      </p:sp>
    </p:spTree>
    <p:extLst>
      <p:ext uri="{BB962C8B-B14F-4D97-AF65-F5344CB8AC3E}">
        <p14:creationId xmlns:p14="http://schemas.microsoft.com/office/powerpoint/2010/main" val="21070021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29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CAF72-9459-47BD-B5D0-93D5D32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다음 결제 전에, 하나부터 확인하세요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957405-2510-4847-A016-25B24207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여러 카드와 결제 알림에 흩어진 자동결제를</a:t>
            </a:r>
          </a:p>
          <a:p xmlns:a="http://schemas.openxmlformats.org/drawingml/2006/main">
            <a:pPr algn="l">
              <a:defRPr sz="1950" b="1" i="0">
                <a:solidFill>
                  <a:srgbClr val="DFEEE7"/>
                </a:solidFill>
              </a:defRPr>
            </a:pPr>
            <a:r>
              <a:rPr sz="1950" b="1" i="0">
                <a:solidFill>
                  <a:srgbClr val="DFEEE7"/>
                </a:solidFill>
              </a:rPr>
              <a:t>AI로 정리하는 개인정보 보호형 구독 관리 도구입니다.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CA87B2-6091-42A6-B94F-7D0A00BF9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44767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D23F"/>
          </a:solidFill>
          <a:ln xmlns:a="http://schemas.openxmlformats.org/drawingml/2006/main" w="9525">
            <a:solidFill>
              <a:srgbClr val="FFD23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131AF-543D-41FF-AE15-70CF7E7B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D2921"/>
                </a:solidFill>
              </a:defRPr>
            </a:pPr>
            <a:r>
              <a:rPr sz="1425" b="1" i="0">
                <a:solidFill>
                  <a:srgbClr val="0D2921"/>
                </a:solidFill>
              </a:rPr>
              <a:t>https://subscription-cleaning.vercel.app/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6F5FC-CEF2-43F7-8F80-B04A91FC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D23F"/>
                </a:solidFill>
              </a:defRPr>
            </a:pPr>
            <a:r>
              <a:rPr sz="1350" b="1" i="0">
                <a:solidFill>
                  <a:srgbClr val="FFD23F"/>
                </a:solidFill>
              </a:rPr>
              <a:t>통합·분류  ·  AI 설명  ·  해지 우선순위  ·  월·1년 절약액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16845-926F-4EED-9BAF-F326D0DC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195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구독청소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5C04D-0428-4240-AE82-BC0A7CA8A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DFEEE7"/>
                </a:solidFill>
              </a:defRPr>
            </a:pPr>
            <a:r>
              <a:rPr sz="1350" b="0" i="0">
                <a:solidFill>
                  <a:srgbClr val="DFEEE7"/>
                </a:solidFill>
              </a:rPr>
              <a:t>Subscription Cleaning</a:t>
            </a:r>
          </a:p>
        </p:txBody>
      </p:sp>
    </p:spTree>
    <p:extLst>
      <p:ext uri="{BB962C8B-B14F-4D97-AF65-F5344CB8AC3E}">
        <p14:creationId xmlns:p14="http://schemas.microsoft.com/office/powerpoint/2010/main" val="898429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2026-08-25T16:02:42.1140000Z</dcterms:created>
  <dcterms:modified xsi:type="dcterms:W3CDTF">2026-08-25T16:02:42.1150000Z</dcterms:modified>
</coreProperties>
</file>