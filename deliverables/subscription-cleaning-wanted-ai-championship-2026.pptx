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dff00012b4220" /><Relationship Type="http://schemas.openxmlformats.org/officeDocument/2006/relationships/extended-properties" Target="/docProps/app.xml" Id="Rbf290509b20d456d" /><Relationship Type="http://schemas.openxmlformats.org/officeDocument/2006/relationships/officeDocument" Target="/ppt/presentation.xml" Id="Ref9b25cec38b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3734a8455465f"/>
  </p:sldMasterIdLst>
  <p:notesMasterIdLst>
    <p:notesMasterId xmlns:r="http://schemas.openxmlformats.org/officeDocument/2006/relationships" r:id="R2aa2896f999b4027"/>
  </p:notesMasterIdLst>
  <p:sldIdLst>
    <p:sldId xmlns:r="http://schemas.openxmlformats.org/officeDocument/2006/relationships" id="256" r:id="R39c172f7de39451c"/>
    <p:sldId xmlns:r="http://schemas.openxmlformats.org/officeDocument/2006/relationships" id="257" r:id="R691e820b9e4a4662"/>
    <p:sldId xmlns:r="http://schemas.openxmlformats.org/officeDocument/2006/relationships" id="258" r:id="R2881423db3d9470b"/>
    <p:sldId xmlns:r="http://schemas.openxmlformats.org/officeDocument/2006/relationships" id="259" r:id="R418385a968e84c9b"/>
    <p:sldId xmlns:r="http://schemas.openxmlformats.org/officeDocument/2006/relationships" id="260" r:id="R1e18d7581f484c83"/>
    <p:sldId xmlns:r="http://schemas.openxmlformats.org/officeDocument/2006/relationships" id="261" r:id="R13bc1fb7765947ab"/>
    <p:sldId xmlns:r="http://schemas.openxmlformats.org/officeDocument/2006/relationships" id="262" r:id="R8bf0c40316aa41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b3860e0984e41" /><Relationship Type="http://schemas.openxmlformats.org/officeDocument/2006/relationships/slideMaster" Target="/ppt/slideMasters/slideMaster1.xml" Id="R9b53734a8455465f" /><Relationship Type="http://schemas.openxmlformats.org/officeDocument/2006/relationships/notesMaster" Target="/ppt/notesMasters/notesMaster1.xml" Id="R2aa2896f999b4027" /><Relationship Type="http://schemas.openxmlformats.org/officeDocument/2006/relationships/presProps" Target="/ppt/presProps.xml" Id="R74913611cc604bd9" /><Relationship Type="http://schemas.openxmlformats.org/officeDocument/2006/relationships/tableStyles" Target="/ppt/tableStyles.xml" Id="Re83a4ef1548c40b7" /><Relationship Type="http://schemas.openxmlformats.org/officeDocument/2006/relationships/slide" Target="/ppt/slides/slide1.xml" Id="R39c172f7de39451c" /><Relationship Type="http://schemas.openxmlformats.org/officeDocument/2006/relationships/slide" Target="/ppt/slides/slide2.xml" Id="R691e820b9e4a4662" /><Relationship Type="http://schemas.openxmlformats.org/officeDocument/2006/relationships/slide" Target="/ppt/slides/slide3.xml" Id="R2881423db3d9470b" /><Relationship Type="http://schemas.openxmlformats.org/officeDocument/2006/relationships/slide" Target="/ppt/slides/slide4.xml" Id="R418385a968e84c9b" /><Relationship Type="http://schemas.openxmlformats.org/officeDocument/2006/relationships/slide" Target="/ppt/slides/slide5.xml" Id="R1e18d7581f484c83" /><Relationship Type="http://schemas.openxmlformats.org/officeDocument/2006/relationships/slide" Target="/ppt/slides/slide6.xml" Id="R13bc1fb7765947ab" /><Relationship Type="http://schemas.openxmlformats.org/officeDocument/2006/relationships/slide" Target="/ppt/slides/slide7.xml" Id="R8bf0c40316aa41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eac571a925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70061366dc4ff2" /><Relationship Type="http://schemas.openxmlformats.org/officeDocument/2006/relationships/notesMaster" Target="/ppt/notesMasters/notesMaster1.xml" Id="Re119c143d91e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c76169ab0f43a4" /><Relationship Type="http://schemas.openxmlformats.org/officeDocument/2006/relationships/notesMaster" Target="/ppt/notesMasters/notesMaster1.xml" Id="R9559fe5f07c242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54efe72b634969" /><Relationship Type="http://schemas.openxmlformats.org/officeDocument/2006/relationships/notesMaster" Target="/ppt/notesMasters/notesMaster1.xml" Id="R15b44787ded84f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b231ae0ba74c71" /><Relationship Type="http://schemas.openxmlformats.org/officeDocument/2006/relationships/notesMaster" Target="/ppt/notesMasters/notesMaster1.xml" Id="Re70ddacbb4ad4e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6352270d4545d2" /><Relationship Type="http://schemas.openxmlformats.org/officeDocument/2006/relationships/notesMaster" Target="/ppt/notesMasters/notesMaster1.xml" Id="Rc2d5959be48c41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b311cab129454f" /><Relationship Type="http://schemas.openxmlformats.org/officeDocument/2006/relationships/notesMaster" Target="/ppt/notesMasters/notesMaster1.xml" Id="R6ddee6f4acaf4b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bf27e430124c20" /><Relationship Type="http://schemas.openxmlformats.org/officeDocument/2006/relationships/notesMaster" Target="/ppt/notesMasters/notesMaster1.xml" Id="R658929c9eafc49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이름과 한 문장 가치 제안을 먼저 보여줍니다. 이 프로젝트는 반복 결제를 찾는 데서 끝나지 않고, AI가 사용자가 취할 다음 행동까지 설명하는 점이 핵심입니다.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Subscription Cleaning repository</a:t>
            </a:r>
          </a:p>
          <a:p xmlns:a="http://schemas.openxmlformats.org/drawingml/2006/main">
            <a:r>
              <a:t>- Official event information: https://event.wanted.co.kr/ai-championship/2026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반복 결제 관리의 문제를 ‘기록 부족’이 아니라 ‘판단할 수 있는 형태로 보이지 않음’으로 정의합니다.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Subscription Cleaning repository</a:t>
            </a:r>
          </a:p>
          <a:p xmlns:a="http://schemas.openxmlformats.org/drawingml/2006/main">
            <a:r>
              <a:t>- Official event information: https://event.wanted.co.kr/ai-championship/2026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서비스의 전체 흐름을 4단계로 보여줍니다. 입력 장벽을 낮추고, 결과를 행동으로 연결하는 것이 중요한 설계입니다.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Subscription Cleaning repository</a:t>
            </a:r>
          </a:p>
          <a:p xmlns:a="http://schemas.openxmlformats.org/drawingml/2006/main">
            <a:r>
              <a:t>- Official event information: https://event.wanted.co.kr/ai-championship/2026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화면은 샘플 결제내역을 분석한 실제 로컬 실행 결과입니다. 14건에서 5개 후보가 생성되고, 결제처가 통합·분류됩니다. 분석 버튼을 다시 누르면 전체 후보의 AI 분석을 한 번에 요청합니다.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Subscription Cleaning repository</a:t>
            </a:r>
          </a:p>
          <a:p xmlns:a="http://schemas.openxmlformats.org/drawingml/2006/main">
            <a:r>
              <a:t>- Official event information: https://event.wanted.co.kr/ai-championship/2026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 중 AI는 Google Gemini API입니다. 브라우저에서 결제내역을 먼저 정리하고, 사용자가 분석을 눌렀을 때 필요한 요약값만 한 번에 살펴봅니다. 반복 결제인 이유, 해지 우선순위, 월·1년 예상 절약액과 다음 행동을 알려줍니다. 원문과 민감정보는 보내지 않으며, 하루 7회 제한과 기본 분석 전환을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Gemini Generate Content API: https://ai.google.dev/api/generate-content</a:t>
            </a:r>
          </a:p>
          <a:p xmlns:a="http://schemas.openxmlformats.org/drawingml/2006/main">
            <a:r>
              <a:t>- Gemini structured outputs: https://ai.google.dev/gemini-api/docs/structured-output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Subscription Cleaning repository</a:t>
            </a:r>
          </a:p>
          <a:p xmlns:a="http://schemas.openxmlformats.org/drawingml/2006/main">
            <a:r>
              <a:t>- Official event information: https://event.wanted.co.kr/ai-championship/2026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AI를 기능 시연으로 끝내지 않고, 결제처 통합과 분류 결과를 사용자의 상태 선택과 절약 목표 확인까지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Subscription Cleaning repository</a:t>
            </a:r>
          </a:p>
          <a:p xmlns:a="http://schemas.openxmlformats.org/drawingml/2006/main">
            <a:r>
              <a:t>- Official event information: https://event.wanted.co.kr/ai-championship/2026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마지막에는 기능 목록보다 사용자가 얻게 되는 행동 변화를 남깁니다. 공식 대회는 자유 주제이며 실제 문제 해결과 AI 활용 적절성을 평가하므로, 서비스 링크와 AI 기능을 함께 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Wanted AI Championship 2026 official guide: https://static.wanted.co.kr/ai-championship/2026/landing.html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Subscription Cleaning repository</a:t>
            </a:r>
          </a:p>
          <a:p xmlns:a="http://schemas.openxmlformats.org/drawingml/2006/main">
            <a:r>
              <a:t>- Official event information: https://event.wanted.co.kr/ai-championship/2026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f65dd61f441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9cae8bb75f4816" /><Relationship Type="http://schemas.openxmlformats.org/officeDocument/2006/relationships/slideLayout" Target="/ppt/slideLayouts/slideLayout1.xml" Id="R5b5494a00c2c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494a00c2c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e2f852b694d18" /><Relationship Type="http://schemas.openxmlformats.org/officeDocument/2006/relationships/image" Target="/ppt/media/image.png" Id="Rba95b09c678d47d5" /><Relationship Type="http://schemas.openxmlformats.org/officeDocument/2006/relationships/notesSlide" Target="/ppt/notesSlides/notesSlide1.xml" Id="R186752d7668249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f95ea21d140e2" /><Relationship Type="http://schemas.openxmlformats.org/officeDocument/2006/relationships/notesSlide" Target="/ppt/notesSlides/notesSlide2.xml" Id="R3a1a95c31c2d4f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92d9b918f4235" /><Relationship Type="http://schemas.openxmlformats.org/officeDocument/2006/relationships/notesSlide" Target="/ppt/notesSlides/notesSlide3.xml" Id="Re5e268d5b6bf47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4a43751bc464f" /><Relationship Type="http://schemas.openxmlformats.org/officeDocument/2006/relationships/image" Target="/ppt/media/image2.png" Id="R3357348993da48ca" /><Relationship Type="http://schemas.openxmlformats.org/officeDocument/2006/relationships/notesSlide" Target="/ppt/notesSlides/notesSlide4.xml" Id="R1a4dedf1398843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82b70823e43fc" /><Relationship Type="http://schemas.openxmlformats.org/officeDocument/2006/relationships/notesSlide" Target="/ppt/notesSlides/notesSlide5.xml" Id="Re2d6036575ec44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e6fb6c2dc4feb" /><Relationship Type="http://schemas.openxmlformats.org/officeDocument/2006/relationships/notesSlide" Target="/ppt/notesSlides/notesSlide6.xml" Id="R0f42d69352dd40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0e3b32f474c24" /><Relationship Type="http://schemas.openxmlformats.org/officeDocument/2006/relationships/notesSlide" Target="/ppt/notesSlides/notesSlide7.xml" Id="Rc14bff395f9549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9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3E8E3-B30E-4547-99A0-3618DD53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F"/>
          </a:solidFill>
          <a:ln xmlns:a="http://schemas.openxmlformats.org/drawingml/2006/main" w="9525">
            <a:solidFill>
              <a:srgbClr val="FFD2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32CF1-2D34-47B4-AE48-7647E492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구독청소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4A216-BACF-4649-AB75-151A8391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DFEEE7"/>
                </a:solidFill>
              </a:defRPr>
            </a:pPr>
            <a:r>
              <a:rPr sz="2250" b="1" i="0">
                <a:solidFill>
                  <a:srgbClr val="DFEEE7"/>
                </a:solidFill>
              </a:rPr>
              <a:t>결제내역을 붙여넣으면</a:t>
            </a:r>
          </a:p>
          <a:p xmlns:a="http://schemas.openxmlformats.org/drawingml/2006/main">
            <a:pPr algn="l">
              <a:defRPr sz="2250" b="1" i="0">
                <a:solidFill>
                  <a:srgbClr val="DFEEE7"/>
                </a:solidFill>
              </a:defRPr>
            </a:pPr>
            <a:r>
              <a:rPr sz="2250" b="1" i="0">
                <a:solidFill>
                  <a:srgbClr val="DFEEE7"/>
                </a:solidFill>
              </a:rPr>
              <a:t>AI가 다음 행동까지 설명합니다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FF2B5-2D02-47A4-B107-49A2094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D23F"/>
                </a:solidFill>
              </a:defRPr>
            </a:pPr>
            <a:r>
              <a:rPr sz="1350" b="1" i="0">
                <a:solidFill>
                  <a:srgbClr val="FFD23F"/>
                </a:solidFill>
              </a:rPr>
              <a:t>Wanted AI Championship 2026  ·  출품 발표자료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9F50D-85E8-440E-B804-B058C393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23900"/>
            <a:ext cx="3048000" cy="533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FFFDF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5b09c678d47d5"/>
          <a:stretch xmlns:a="http://schemas.openxmlformats.org/drawingml/2006/main"/>
        </p:blipFill>
        <p:spPr>
          <a:xfrm xmlns:a="http://schemas.openxmlformats.org/drawingml/2006/main">
            <a:off x="8286750" y="1020233"/>
            <a:ext cx="2667000" cy="4741333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</p:spTree>
    <p:extLst>
      <p:ext uri="{BB962C8B-B14F-4D97-AF65-F5344CB8AC3E}">
        <p14:creationId xmlns:p14="http://schemas.microsoft.com/office/powerpoint/2010/main" val="1241730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BB559-FD84-4E28-B744-9F48F54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58D78-71EC-49E8-B061-242D28FA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3251F"/>
                </a:solidFill>
              </a:defRPr>
            </a:pPr>
            <a:r>
              <a:rPr sz="2700" b="1" i="0">
                <a:solidFill>
                  <a:srgbClr val="13251F"/>
                </a:solidFill>
              </a:rPr>
              <a:t>문제는 지출이 아니라 기억의 빈틈입니다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4A5F4-94CB-48B4-B39D-80ED3B38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3756E"/>
                </a:solidFill>
              </a:defRPr>
            </a:pPr>
            <a:r>
              <a:rPr sz="1200" b="1" i="0">
                <a:solidFill>
                  <a:srgbClr val="63756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1FDD2-4F44-4B0F-A7A6-FA215463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1F"/>
                </a:solidFill>
              </a:defRPr>
            </a:pPr>
            <a:r>
              <a:rPr sz="1800" b="1" i="0">
                <a:solidFill>
                  <a:srgbClr val="13251F"/>
                </a:solidFill>
              </a:rPr>
              <a:t>매달 빠져나가는 결제는 여러 카드와 서비스에 흩어져 있고,</a:t>
            </a:r>
          </a:p>
          <a:p xmlns:a="http://schemas.openxmlformats.org/drawingml/2006/main">
            <a:pPr algn="l">
              <a:defRPr sz="1800" b="1" i="0">
                <a:solidFill>
                  <a:srgbClr val="13251F"/>
                </a:solidFill>
              </a:defRPr>
            </a:pPr>
            <a:r>
              <a:rPr sz="1800" b="1" i="0">
                <a:solidFill>
                  <a:srgbClr val="13251F"/>
                </a:solidFill>
              </a:rPr>
              <a:t>사용자는 그 결제가 아직 필요한지 다시 판단할 순간을 놓칩니다.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FA77C-7C2F-46D2-ABD0-84A18638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CB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4DE16-7162-486B-87FB-D2D7D256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8060"/>
                </a:solidFill>
              </a:defRPr>
            </a:pPr>
            <a:r>
              <a:rPr sz="1650" b="1" i="0">
                <a:solidFill>
                  <a:srgbClr val="118060"/>
                </a:solidFill>
              </a:rPr>
              <a:t>흩어진 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2306A-13B3-46E4-A423-6E83A97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카드 문자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카드앱 알림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앱스토어·간편결제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217C-9048-4D54-A960-FA8235E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CB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6CFAA-B8FE-4A5C-9595-A0D802FD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43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0644F"/>
                </a:solidFill>
              </a:defRPr>
            </a:pPr>
            <a:r>
              <a:rPr sz="1650" b="1" i="0">
                <a:solidFill>
                  <a:srgbClr val="E0644F"/>
                </a:solidFill>
              </a:rPr>
              <a:t>놓치는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0F694-AE52-4115-8C92-9F0ACA2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814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이게 구독인가?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다음 결제일은 언제인가?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계속 써야 하나?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5EE7C-6B47-4EC8-91BC-12B0CE7D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8575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0D2921"/>
          </a:solidFill>
          <a:ln xmlns:a="http://schemas.openxmlformats.org/drawingml/2006/main" w="9525">
            <a:solidFill>
              <a:srgbClr val="0D29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7D46A-18CE-4EFA-9C76-A4DDD623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D23F"/>
                </a:solidFill>
              </a:defRPr>
            </a:pPr>
            <a:r>
              <a:rPr sz="1500" b="1" i="0">
                <a:solidFill>
                  <a:srgbClr val="FFD23F"/>
                </a:solidFill>
              </a:rPr>
              <a:t>구독청소의 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3769B-83F9-4F19-8E20-E5A18B4D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“이번 달에</a:t>
            </a:r>
          </a:p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반복해서 빠지는 돈은</a:t>
            </a:r>
          </a:p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얼마인가?”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78032-4C20-462D-9E50-027635CC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56E"/>
                </a:solidFill>
              </a:defRPr>
            </a:pPr>
            <a:r>
              <a:rPr sz="1050" b="0" i="0">
                <a:solidFill>
                  <a:srgbClr val="63756E"/>
                </a:solidFill>
              </a:rPr>
              <a:t>구독청소  ·  Wanted AI Championship 2026</a:t>
            </a:r>
          </a:p>
        </p:txBody>
      </p:sp>
    </p:spTree>
    <p:extLst>
      <p:ext uri="{BB962C8B-B14F-4D97-AF65-F5344CB8AC3E}">
        <p14:creationId xmlns:p14="http://schemas.microsoft.com/office/powerpoint/2010/main" val="1100279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2C5B1-82FE-47D6-8644-4B4A8701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85212-FCB4-4B2D-A59A-1DD66E61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3251F"/>
                </a:solidFill>
              </a:defRPr>
            </a:pPr>
            <a:r>
              <a:rPr sz="2700" b="1" i="0">
                <a:solidFill>
                  <a:srgbClr val="13251F"/>
                </a:solidFill>
              </a:rPr>
              <a:t>붙여넣기 한 번이 점검 루틴을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03A7B-B61E-4512-B499-09D9F9A6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3756E"/>
                </a:solidFill>
              </a:defRPr>
            </a:pPr>
            <a:r>
              <a:rPr sz="1200" b="1" i="0">
                <a:solidFill>
                  <a:srgbClr val="63756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71731-96E8-44AF-9B55-66E75F6E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43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F"/>
          </a:solidFill>
          <a:ln xmlns:a="http://schemas.openxmlformats.org/drawingml/2006/main" w="9525">
            <a:solidFill>
              <a:srgbClr val="FFD2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E979-829C-4BDF-936E-8F1F96ED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1336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CB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01EB6-599E-4F99-BD47-9F0D180A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8AC76-0892-4D68-A43B-2B4938A8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1F"/>
                </a:solidFill>
              </a:defRPr>
            </a:pPr>
            <a:r>
              <a:rPr sz="1800" b="1" i="0">
                <a:solidFill>
                  <a:srgbClr val="13251F"/>
                </a:solidFill>
              </a:rPr>
              <a:t>붙여넣기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D54C7-EE24-497B-96CE-D19527EB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3756E"/>
                </a:solidFill>
              </a:defRPr>
            </a:pPr>
            <a:r>
              <a:rPr sz="1275" b="0" i="0">
                <a:solidFill>
                  <a:srgbClr val="63756E"/>
                </a:solidFill>
              </a:rPr>
              <a:t>카드 문자·앱 알림·CSV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C2473-0DDF-4A51-AF4F-E1511505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F"/>
          </a:solidFill>
          <a:ln xmlns:a="http://schemas.openxmlformats.org/drawingml/2006/main" w="9525">
            <a:solidFill>
              <a:srgbClr val="FFD2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7DA15-6A33-450F-8FD9-BEA2B405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21336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CBD8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CF5CF-89EA-46D6-B0EA-978886F7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60502-B31A-4AC2-B84D-11531F0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718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1F"/>
                </a:solidFill>
              </a:defRPr>
            </a:pPr>
            <a:r>
              <a:rPr sz="1800" b="1" i="0">
                <a:solidFill>
                  <a:srgbClr val="13251F"/>
                </a:solidFill>
              </a:rPr>
              <a:t>통합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3190E-945F-4927-A78B-7F6A3065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242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3756E"/>
                </a:solidFill>
              </a:defRPr>
            </a:pPr>
            <a:r>
              <a:rPr sz="1275" b="0" i="0">
                <a:solidFill>
                  <a:srgbClr val="63756E"/>
                </a:solidFill>
              </a:rPr>
              <a:t>APPLE.COM/BILL → Apple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02E4C-DF01-43E7-A924-9B39A87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3F"/>
          </a:solidFill>
          <a:ln xmlns:a="http://schemas.openxmlformats.org/drawingml/2006/main" w="9525">
            <a:solidFill>
              <a:srgbClr val="FFD2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D0FB4-A24C-46FC-A459-7713338C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1336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6F1"/>
          </a:solidFill>
          <a:ln xmlns:a="http://schemas.openxmlformats.org/drawingml/2006/main" w="9525">
            <a:solidFill>
              <a:srgbClr val="CBD8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8BC14-1178-4CC4-ACD9-9AF81439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52EFF-4F57-4AAE-8188-E30D358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1F"/>
                </a:solidFill>
              </a:defRPr>
            </a:pPr>
            <a:r>
              <a:rPr sz="1800" b="1" i="0">
                <a:solidFill>
                  <a:srgbClr val="13251F"/>
                </a:solidFill>
              </a:rPr>
              <a:t>후보화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C4655-F397-4625-A26B-6B0FDC54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242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3756E"/>
                </a:solidFill>
              </a:defRPr>
            </a:pPr>
            <a:r>
              <a:rPr sz="1275" b="0" i="0">
                <a:solidFill>
                  <a:srgbClr val="63756E"/>
                </a:solidFill>
              </a:rPr>
              <a:t>분류·주기·신뢰도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DE977-2E9D-4EE0-AD66-72CFFFAC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1336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2921"/>
          </a:solidFill>
          <a:ln xmlns:a="http://schemas.openxmlformats.org/drawingml/2006/main" w="9525">
            <a:solidFill>
              <a:srgbClr val="0D29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B27D5-D41C-4A1C-9974-A78D010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D23F"/>
                </a:solidFill>
              </a:defRPr>
            </a:pPr>
            <a:r>
              <a:rPr sz="1200" b="1" i="0">
                <a:solidFill>
                  <a:srgbClr val="FFD23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35B5C-2BAF-4985-B0AB-473ACDA4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행동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B7957-182F-4E26-BBE4-188760DF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FEEE7"/>
                </a:solidFill>
              </a:defRPr>
            </a:pPr>
            <a:r>
              <a:rPr sz="1275" b="1" i="0">
                <a:solidFill>
                  <a:srgbClr val="DFEEE7"/>
                </a:solidFill>
              </a:rPr>
              <a:t>우선순위·절약액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7AA7B-B3F1-4480-95B6-D120427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3756E"/>
                </a:solidFill>
              </a:defRPr>
            </a:pPr>
            <a:r>
              <a:rPr sz="1500" b="1" i="0">
                <a:solidFill>
                  <a:srgbClr val="63756E"/>
                </a:solidFill>
              </a:rPr>
              <a:t>기본 분석은 브라우저에서 실행되고, 사용자가 분석을 누를 때만 전체 후보의 최소 요약값을 AI에 전달합니다.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C40B0C-171D-4662-9B80-27735B82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56E"/>
                </a:solidFill>
              </a:defRPr>
            </a:pPr>
            <a:r>
              <a:rPr sz="1050" b="0" i="0">
                <a:solidFill>
                  <a:srgbClr val="63756E"/>
                </a:solidFill>
              </a:rPr>
              <a:t>구독청소  ·  Wanted AI Championship 2026</a:t>
            </a:r>
          </a:p>
        </p:txBody>
      </p:sp>
    </p:spTree>
    <p:extLst>
      <p:ext uri="{BB962C8B-B14F-4D97-AF65-F5344CB8AC3E}">
        <p14:creationId xmlns:p14="http://schemas.microsoft.com/office/powerpoint/2010/main" val="825134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F348E-BCE5-46E4-AB04-CF0380F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80178-E7BF-48E2-B423-FED5F27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3251F"/>
                </a:solidFill>
              </a:defRPr>
            </a:pPr>
            <a:r>
              <a:rPr sz="2700" b="1" i="0">
                <a:solidFill>
                  <a:srgbClr val="13251F"/>
                </a:solidFill>
              </a:rPr>
              <a:t>14건의 결제내역이 5개 후보와 1년 예상액으로 바뀝니다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9364C-CC2B-48A9-A56D-179AFDF1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3756E"/>
                </a:solidFill>
              </a:defRPr>
            </a:pPr>
            <a:r>
              <a:rPr sz="1200" b="1" i="0">
                <a:solidFill>
                  <a:srgbClr val="63756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61635-B755-4F01-8467-8C85266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8060"/>
                </a:solidFill>
              </a:defRPr>
            </a:pPr>
            <a:r>
              <a:rPr sz="1350" b="1" i="0">
                <a:solidFill>
                  <a:srgbClr val="118060"/>
                </a:solidFill>
              </a:rPr>
              <a:t>샘플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CD8AD-5253-4AFF-A810-D510D5A0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3251F"/>
                </a:solidFill>
              </a:defRPr>
            </a:pPr>
            <a:r>
              <a:rPr sz="4350" b="1" i="0">
                <a:solidFill>
                  <a:srgbClr val="13251F"/>
                </a:solidFill>
              </a:rPr>
              <a:t>14건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29A90-9C24-4A07-A361-8B39AA3F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3756E"/>
                </a:solidFill>
              </a:defRPr>
            </a:pPr>
            <a:r>
              <a:rPr sz="1425" b="0" i="0">
                <a:solidFill>
                  <a:srgbClr val="63756E"/>
                </a:solidFill>
              </a:rPr>
              <a:t>카드 승인 문자와 결제내역을</a:t>
            </a:r>
          </a:p>
          <a:p xmlns:a="http://schemas.openxmlformats.org/drawingml/2006/main">
            <a:pPr algn="l">
              <a:defRPr sz="1425" b="0" i="0">
                <a:solidFill>
                  <a:srgbClr val="63756E"/>
                </a:solidFill>
              </a:defRPr>
            </a:pPr>
            <a:r>
              <a:rPr sz="1425" b="0" i="0">
                <a:solidFill>
                  <a:srgbClr val="63756E"/>
                </a:solidFill>
              </a:rPr>
              <a:t>한 번에 붙여넣습니다.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31864-4D6D-4F49-AD37-5E6E6CCD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2921"/>
          </a:solidFill>
          <a:ln xmlns:a="http://schemas.openxmlformats.org/drawingml/2006/main" w="9525">
            <a:solidFill>
              <a:srgbClr val="0D29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AA928-AAC4-41B0-9F02-9AE5B656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D23F"/>
                </a:solidFill>
              </a:defRPr>
            </a:pPr>
            <a:r>
              <a:rPr sz="1650" b="1" i="0">
                <a:solidFill>
                  <a:srgbClr val="FFD23F"/>
                </a:solidFill>
              </a:rPr>
              <a:t>5개 후보  ·  월 63,790원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31623-3DA2-45E4-9DB2-6C29234E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FEEE7"/>
                </a:solidFill>
              </a:defRPr>
            </a:pPr>
            <a:r>
              <a:rPr sz="1200" b="0" i="0">
                <a:solidFill>
                  <a:srgbClr val="DFEEE7"/>
                </a:solidFill>
              </a:rPr>
              <a:t>연 765,480원  ·  반복 주기와 분류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B2C6F-5F22-4134-9AF9-0023BA14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28800"/>
            <a:ext cx="6096000" cy="43434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CBD8D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7348993da48ca"/>
          <a:stretch xmlns:a="http://schemas.openxmlformats.org/drawingml/2006/main"/>
        </p:blipFill>
        <p:spPr>
          <a:xfrm xmlns:a="http://schemas.openxmlformats.org/drawingml/2006/main">
            <a:off x="5029200" y="2044898"/>
            <a:ext cx="5562600" cy="3911203"/>
          </a:xfrm>
          <a:prstGeom xmlns:a="http://schemas.openxmlformats.org/drawingml/2006/main" prst="roundRect">
            <a:avLst>
              <a:gd name="adj" fmla="val 283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614FC-93CB-4D6B-A451-EB89FE22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56E"/>
                </a:solidFill>
              </a:defRPr>
            </a:pPr>
            <a:r>
              <a:rPr sz="1050" b="0" i="0">
                <a:solidFill>
                  <a:srgbClr val="63756E"/>
                </a:solidFill>
              </a:rPr>
              <a:t>구독청소  ·  Wanted AI Championship 2026</a:t>
            </a:r>
          </a:p>
        </p:txBody>
      </p:sp>
    </p:spTree>
    <p:extLst>
      <p:ext uri="{BB962C8B-B14F-4D97-AF65-F5344CB8AC3E}">
        <p14:creationId xmlns:p14="http://schemas.microsoft.com/office/powerpoint/2010/main" val="710541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31056-4466-4C34-88CD-0C1646D3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6DC16-EC70-4B19-B9FB-D672044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3251F"/>
                </a:solidFill>
              </a:defRPr>
            </a:pPr>
            <a:r>
              <a:rPr sz="2700" b="1" i="0">
                <a:solidFill>
                  <a:srgbClr val="13251F"/>
                </a:solidFill>
              </a:rPr>
              <a:t>필요한 요약만 읽고, 한 번에 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EE64A-2CCE-4C55-9030-42916FF0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3756E"/>
                </a:solidFill>
              </a:defRPr>
            </a:pPr>
            <a:r>
              <a:rPr sz="1200" b="1" i="0">
                <a:solidFill>
                  <a:srgbClr val="63756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61915-43D0-43FD-9EF3-B9710AAF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FEEE7"/>
          </a:solidFill>
          <a:ln xmlns:a="http://schemas.openxmlformats.org/drawingml/2006/main" w="9525">
            <a:solidFill>
              <a:srgbClr val="DFE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FEE92-5119-4530-89C7-B4186F9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1F"/>
                </a:solidFill>
              </a:defRPr>
            </a:pPr>
            <a:r>
              <a:rPr sz="1800" b="1" i="0">
                <a:solidFill>
                  <a:srgbClr val="13251F"/>
                </a:solidFill>
              </a:rPr>
              <a:t>먼저 정리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699FB-F7AC-40E1-A8BC-4B74ACDC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결제처를 하나로 묶고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반복 주기와 금액을 확인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필요한 정보만 남깁니다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631D3-F146-4C54-8913-AA859F3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8600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D23F"/>
          </a:solidFill>
          <a:ln xmlns:a="http://schemas.openxmlformats.org/drawingml/2006/main" w="9525">
            <a:solidFill>
              <a:srgbClr val="FFD2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E1537-DDB0-483E-B0BF-0CDD514D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1F"/>
                </a:solidFill>
              </a:defRPr>
            </a:pPr>
            <a:r>
              <a:rPr sz="1800" b="1" i="0">
                <a:solidFill>
                  <a:srgbClr val="13251F"/>
                </a:solidFill>
              </a:rPr>
              <a:t>AI가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27339-6054-439F-A54E-BE6DA9EF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전체 후보를 한 번에 분석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왜 구독 후보인지 설명</a:t>
            </a:r>
          </a:p>
          <a:p xmlns:a="http://schemas.openxmlformats.org/drawingml/2006/main">
            <a:pPr algn="l">
              <a:defRPr sz="1425" b="0" i="0">
                <a:solidFill>
                  <a:srgbClr val="13251F"/>
                </a:solidFill>
              </a:defRPr>
            </a:pPr>
            <a:r>
              <a:rPr sz="1425" b="0" i="0">
                <a:solidFill>
                  <a:srgbClr val="13251F"/>
                </a:solidFill>
              </a:rPr>
              <a:t>우선순위와 절약액 제안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DF1FB-CC63-416E-BB30-3FE5E38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D2921"/>
          </a:solidFill>
          <a:ln xmlns:a="http://schemas.openxmlformats.org/drawingml/2006/main" w="9525">
            <a:solidFill>
              <a:srgbClr val="0D292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350C8-8E60-4C35-8B97-7BA248B0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사용자가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216AD-DA1C-43ED-942D-915F5AA9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유지·해지예정·모름 선택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다음 확인 행동 확인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참고 정보로 활용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F7082-E1BE-4095-B8A8-8F62BACC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8060"/>
                </a:solidFill>
              </a:defRPr>
            </a:pPr>
            <a:r>
              <a:rPr sz="1575" b="1" i="0">
                <a:solidFill>
                  <a:srgbClr val="118060"/>
                </a:solidFill>
              </a:rPr>
              <a:t>원문·카드번호는 보내지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E1654-D658-450D-AC9F-9551B324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8060"/>
                </a:solidFill>
              </a:defRPr>
            </a:pPr>
            <a:r>
              <a:rPr sz="1575" b="1" i="0">
                <a:solidFill>
                  <a:srgbClr val="118060"/>
                </a:solidFill>
              </a:rPr>
              <a:t>분석 버튼 한 번 · 하루 7회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ED429-7FF2-4522-A492-DEA7B5B2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67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8060"/>
                </a:solidFill>
              </a:defRPr>
            </a:pPr>
            <a:r>
              <a:rPr sz="1575" b="1" i="0">
                <a:solidFill>
                  <a:srgbClr val="118060"/>
                </a:solidFill>
              </a:rPr>
              <a:t>AI가 안 되면 기본 분석으로 계속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AA3D1-2810-45AF-8B4F-9E66F9A9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56E"/>
                </a:solidFill>
              </a:defRPr>
            </a:pPr>
            <a:r>
              <a:rPr sz="1050" b="0" i="0">
                <a:solidFill>
                  <a:srgbClr val="63756E"/>
                </a:solidFill>
              </a:rPr>
              <a:t>구독청소  ·  Wanted AI Championship 2026</a:t>
            </a:r>
          </a:p>
        </p:txBody>
      </p:sp>
    </p:spTree>
    <p:extLst>
      <p:ext uri="{BB962C8B-B14F-4D97-AF65-F5344CB8AC3E}">
        <p14:creationId xmlns:p14="http://schemas.microsoft.com/office/powerpoint/2010/main" val="664382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B058E-734C-4E8D-BDBF-FBF9FBE2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8060"/>
                </a:solidFill>
              </a:defRPr>
            </a:pPr>
            <a:r>
              <a:rPr sz="1200" b="1" i="0">
                <a:solidFill>
                  <a:srgbClr val="118060"/>
                </a:solidFill>
              </a:rPr>
              <a:t>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31FBD-167A-48D0-9B2E-6E6CD64F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3251F"/>
                </a:solidFill>
              </a:defRPr>
            </a:pPr>
            <a:r>
              <a:rPr sz="2700" b="1" i="0">
                <a:solidFill>
                  <a:srgbClr val="13251F"/>
                </a:solidFill>
              </a:rPr>
              <a:t>우선순위와 절약액이 다음 행동을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0A1E4-5D5D-4638-8BE5-FB75E83D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3756E"/>
                </a:solidFill>
              </a:defRPr>
            </a:pPr>
            <a:r>
              <a:rPr sz="1200" b="1" i="0">
                <a:solidFill>
                  <a:srgbClr val="63756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863EC-EF96-4940-B154-6091EEF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D2921"/>
          </a:solidFill>
          <a:ln xmlns:a="http://schemas.openxmlformats.org/drawingml/2006/main" w="9525">
            <a:solidFill>
              <a:srgbClr val="0D29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679EB-44A8-4174-BA12-0AF3975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D23F"/>
                </a:solidFill>
              </a:defRPr>
            </a:pPr>
            <a:r>
              <a:rPr sz="1350" b="1" i="0">
                <a:solidFill>
                  <a:srgbClr val="FFD23F"/>
                </a:solidFill>
              </a:rPr>
              <a:t>AI 분석 예시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DC696-903F-4BC8-A28E-30167F0F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판단  최근 3개월 월간 반복 결제 후보입니다.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영향  월 17,000원 · 1년 204,000원입니다.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우선순위  모름 상태라 이용 여부를 먼저 확인하세요.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다음 행동  필요하면 해지예정으로 표시하세요.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5E47B-C8A1-4728-9B04-BF9DDD0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3756E"/>
                </a:solidFill>
              </a:defRPr>
            </a:pPr>
            <a:r>
              <a:rPr sz="1125" b="0" i="0">
                <a:solidFill>
                  <a:srgbClr val="63756E"/>
                </a:solidFill>
              </a:rPr>
              <a:t>참고 정보이며 카드사 조회나 해지 대행이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39C5F-F355-4396-A200-624DEBC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8060"/>
                </a:solidFill>
              </a:defRPr>
            </a:pPr>
            <a:r>
              <a:rPr sz="1350" b="1" i="0">
                <a:solidFill>
                  <a:srgbClr val="118060"/>
                </a:solidFill>
              </a:rPr>
              <a:t>결과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62244-3823-42F3-9FA7-94F79EB3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3251F"/>
                </a:solidFill>
              </a:defRPr>
            </a:pPr>
            <a:r>
              <a:rPr sz="2100" b="1" i="0">
                <a:solidFill>
                  <a:srgbClr val="13251F"/>
                </a:solidFill>
              </a:rPr>
              <a:t>해지예정으로 표시하면</a:t>
            </a:r>
          </a:p>
          <a:p xmlns:a="http://schemas.openxmlformats.org/drawingml/2006/main">
            <a:pPr algn="l">
              <a:defRPr sz="2100" b="1" i="0">
                <a:solidFill>
                  <a:srgbClr val="13251F"/>
                </a:solidFill>
              </a:defRPr>
            </a:pPr>
            <a:r>
              <a:rPr sz="2100" b="1" i="0">
                <a:solidFill>
                  <a:srgbClr val="13251F"/>
                </a:solidFill>
              </a:rPr>
              <a:t>우선순위와 월·1년 절약액,</a:t>
            </a:r>
          </a:p>
          <a:p xmlns:a="http://schemas.openxmlformats.org/drawingml/2006/main">
            <a:pPr algn="l">
              <a:defRPr sz="2100" b="1" i="0">
                <a:solidFill>
                  <a:srgbClr val="13251F"/>
                </a:solidFill>
              </a:defRPr>
            </a:pPr>
            <a:r>
              <a:rPr sz="2100" b="1" i="0">
                <a:solidFill>
                  <a:srgbClr val="13251F"/>
                </a:solidFill>
              </a:rPr>
              <a:t>목표 진행률이 즉시 갱신됩니다.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A22E5-0A96-4AD5-AA4B-30286691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D23F"/>
          </a:solidFill>
          <a:ln xmlns:a="http://schemas.openxmlformats.org/drawingml/2006/main" w="9525">
            <a:solidFill>
              <a:srgbClr val="FFD2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B93A-00D0-43E3-8050-2CD87980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D2921"/>
                </a:solidFill>
              </a:defRPr>
            </a:pPr>
            <a:r>
              <a:rPr sz="1575" b="1" i="0">
                <a:solidFill>
                  <a:srgbClr val="0D2921"/>
                </a:solidFill>
              </a:rPr>
              <a:t>분석 → 이해 → 행동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85DD9-0518-4DB8-8A57-050BE92F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56E"/>
                </a:solidFill>
              </a:defRPr>
            </a:pPr>
            <a:r>
              <a:rPr sz="1050" b="0" i="0">
                <a:solidFill>
                  <a:srgbClr val="63756E"/>
                </a:solidFill>
              </a:rPr>
              <a:t>구독청소  ·  Wanted AI Championship 2026</a:t>
            </a:r>
          </a:p>
        </p:txBody>
      </p:sp>
    </p:spTree>
    <p:extLst>
      <p:ext uri="{BB962C8B-B14F-4D97-AF65-F5344CB8AC3E}">
        <p14:creationId xmlns:p14="http://schemas.microsoft.com/office/powerpoint/2010/main" val="201376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29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944A5-D28B-4D91-A8F5-54F445AD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다음 결제 전에, 하나부터 확인하세요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B73F4-9EAC-4B74-8E16-47F4EAC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DFEEE7"/>
                </a:solidFill>
              </a:defRPr>
            </a:pPr>
            <a:r>
              <a:rPr sz="1950" b="1" i="0">
                <a:solidFill>
                  <a:srgbClr val="DFEEE7"/>
                </a:solidFill>
              </a:rPr>
              <a:t>여러 카드와 결제 알림에 흩어진 자동결제를</a:t>
            </a:r>
          </a:p>
          <a:p xmlns:a="http://schemas.openxmlformats.org/drawingml/2006/main">
            <a:pPr algn="l">
              <a:defRPr sz="1950" b="1" i="0">
                <a:solidFill>
                  <a:srgbClr val="DFEEE7"/>
                </a:solidFill>
              </a:defRPr>
            </a:pPr>
            <a:r>
              <a:rPr sz="1950" b="1" i="0">
                <a:solidFill>
                  <a:srgbClr val="DFEEE7"/>
                </a:solidFill>
              </a:rPr>
              <a:t>AI로 정리하는 개인정보 보호형 구독 관리 도구입니다.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DCDBD-537F-44E5-A9A9-B8AD0F20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476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D23F"/>
          </a:solidFill>
          <a:ln xmlns:a="http://schemas.openxmlformats.org/drawingml/2006/main" w="9525">
            <a:solidFill>
              <a:srgbClr val="FFD23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29233-EE1C-4C07-9140-81FC618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D2921"/>
                </a:solidFill>
              </a:defRPr>
            </a:pPr>
            <a:r>
              <a:rPr sz="1425" b="1" i="0">
                <a:solidFill>
                  <a:srgbClr val="0D2921"/>
                </a:solidFill>
              </a:rPr>
              <a:t>https://subscription-cleaning.vercel.app/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6729C-F702-45C7-8CA8-52A555AD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D23F"/>
                </a:solidFill>
              </a:defRPr>
            </a:pPr>
            <a:r>
              <a:rPr sz="1350" b="1" i="0">
                <a:solidFill>
                  <a:srgbClr val="FFD23F"/>
                </a:solidFill>
              </a:rPr>
              <a:t>통합·분류  ·  AI 일괄 분석  ·  해지 우선순위  ·  월·1년 절약액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AC518-B57D-4B8C-9BF1-301E5865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구독청소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2378E-2330-4098-BD29-FB0D826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FEEE7"/>
                </a:solidFill>
              </a:defRPr>
            </a:pPr>
            <a:r>
              <a:rPr sz="1350" b="0" i="0">
                <a:solidFill>
                  <a:srgbClr val="DFEEE7"/>
                </a:solidFill>
              </a:rPr>
              <a:t>Subscription Cleaning</a:t>
            </a:r>
          </a:p>
        </p:txBody>
      </p:sp>
    </p:spTree>
    <p:extLst>
      <p:ext uri="{BB962C8B-B14F-4D97-AF65-F5344CB8AC3E}">
        <p14:creationId xmlns:p14="http://schemas.microsoft.com/office/powerpoint/2010/main" val="1786071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2026-08-26T09:54:24.0160000Z</dcterms:created>
  <dcterms:modified xsi:type="dcterms:W3CDTF">2026-08-26T09:54:24.0160000Z</dcterms:modified>
</coreProperties>
</file>