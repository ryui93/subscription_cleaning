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69d69e9a444dff" /><Relationship Type="http://schemas.openxmlformats.org/officeDocument/2006/relationships/extended-properties" Target="/docProps/app.xml" Id="Rc29c7ce6d9014f1b" /><Relationship Type="http://schemas.openxmlformats.org/officeDocument/2006/relationships/officeDocument" Target="/ppt/presentation.xml" Id="R4f1ab767db7f40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b4705d77fa4522"/>
  </p:sldMasterIdLst>
  <p:notesMasterIdLst>
    <p:notesMasterId xmlns:r="http://schemas.openxmlformats.org/officeDocument/2006/relationships" r:id="Ra7fc98ed0a34410d"/>
  </p:notesMasterIdLst>
  <p:sldIdLst>
    <p:sldId xmlns:r="http://schemas.openxmlformats.org/officeDocument/2006/relationships" id="256" r:id="R4f8a32410f114473"/>
    <p:sldId xmlns:r="http://schemas.openxmlformats.org/officeDocument/2006/relationships" id="257" r:id="R3be01427d75f48e3"/>
    <p:sldId xmlns:r="http://schemas.openxmlformats.org/officeDocument/2006/relationships" id="258" r:id="Rb089388f4cf84cc0"/>
    <p:sldId xmlns:r="http://schemas.openxmlformats.org/officeDocument/2006/relationships" id="259" r:id="R47a3f850177441f5"/>
    <p:sldId xmlns:r="http://schemas.openxmlformats.org/officeDocument/2006/relationships" id="260" r:id="Rf5a8efdbb4a64e67"/>
    <p:sldId xmlns:r="http://schemas.openxmlformats.org/officeDocument/2006/relationships" id="261" r:id="R6c8b852c59874e5e"/>
    <p:sldId xmlns:r="http://schemas.openxmlformats.org/officeDocument/2006/relationships" id="262" r:id="R30be1c51cf9345a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709c88510d4f9c" /><Relationship Type="http://schemas.openxmlformats.org/officeDocument/2006/relationships/slideMaster" Target="/ppt/slideMasters/slideMaster1.xml" Id="R0cb4705d77fa4522" /><Relationship Type="http://schemas.openxmlformats.org/officeDocument/2006/relationships/notesMaster" Target="/ppt/notesMasters/notesMaster1.xml" Id="Ra7fc98ed0a34410d" /><Relationship Type="http://schemas.openxmlformats.org/officeDocument/2006/relationships/presProps" Target="/ppt/presProps.xml" Id="R5245bd35130843b3" /><Relationship Type="http://schemas.openxmlformats.org/officeDocument/2006/relationships/tableStyles" Target="/ppt/tableStyles.xml" Id="Re7702b6529c642e6" /><Relationship Type="http://schemas.openxmlformats.org/officeDocument/2006/relationships/slide" Target="/ppt/slides/slide1.xml" Id="R4f8a32410f114473" /><Relationship Type="http://schemas.openxmlformats.org/officeDocument/2006/relationships/slide" Target="/ppt/slides/slide2.xml" Id="R3be01427d75f48e3" /><Relationship Type="http://schemas.openxmlformats.org/officeDocument/2006/relationships/slide" Target="/ppt/slides/slide3.xml" Id="Rb089388f4cf84cc0" /><Relationship Type="http://schemas.openxmlformats.org/officeDocument/2006/relationships/slide" Target="/ppt/slides/slide4.xml" Id="R47a3f850177441f5" /><Relationship Type="http://schemas.openxmlformats.org/officeDocument/2006/relationships/slide" Target="/ppt/slides/slide5.xml" Id="Rf5a8efdbb4a64e67" /><Relationship Type="http://schemas.openxmlformats.org/officeDocument/2006/relationships/slide" Target="/ppt/slides/slide6.xml" Id="R6c8b852c59874e5e" /><Relationship Type="http://schemas.openxmlformats.org/officeDocument/2006/relationships/slide" Target="/ppt/slides/slide7.xml" Id="R30be1c51cf9345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e3d4c412334e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e55243fc834ead" /><Relationship Type="http://schemas.openxmlformats.org/officeDocument/2006/relationships/notesMaster" Target="/ppt/notesMasters/notesMaster1.xml" Id="Rbbf2d9bbd06f47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e583b0692c431d" /><Relationship Type="http://schemas.openxmlformats.org/officeDocument/2006/relationships/notesMaster" Target="/ppt/notesMasters/notesMaster1.xml" Id="R7a3bd43ee36742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81483d0c854459d" /><Relationship Type="http://schemas.openxmlformats.org/officeDocument/2006/relationships/notesMaster" Target="/ppt/notesMasters/notesMaster1.xml" Id="R2aed0254f3634b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f529a5e74e444a" /><Relationship Type="http://schemas.openxmlformats.org/officeDocument/2006/relationships/notesMaster" Target="/ppt/notesMasters/notesMaster1.xml" Id="R128eefbb7b1242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ed8ad40a024a1b" /><Relationship Type="http://schemas.openxmlformats.org/officeDocument/2006/relationships/notesMaster" Target="/ppt/notesMasters/notesMaster1.xml" Id="Re6e6497e785446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d21960e3f84170" /><Relationship Type="http://schemas.openxmlformats.org/officeDocument/2006/relationships/notesMaster" Target="/ppt/notesMasters/notesMaster1.xml" Id="R94c8db08c53249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9cb1bedbe944eb" /><Relationship Type="http://schemas.openxmlformats.org/officeDocument/2006/relationships/notesMaster" Target="/ppt/notesMasters/notesMaster1.xml" Id="Rfcd224b3729540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 이름과 한 문장 가치 제안을 먼저 보여줍니다. 이 프로젝트는 반복 결제를 찾는 데서 끝나지 않고, AI가 사용자가 취할 다음 행동까지 설명하는 점이 핵심입니다.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반복 결제 관리의 문제를 ‘기록 부족’이 아니라 ‘판단할 수 있는 형태로 보이지 않음’으로 정의합니다.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서비스의 전체 흐름을 4단계로 보여줍니다. 입력 장벽을 낮추고, 결과를 행동으로 연결하는 것이 중요한 설계입니다.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시연 화면은 샘플 결제내역을 분석한 실제 로컬 실행 결과입니다. 14건에서 5개 후보가 생성되고, 후보 카드의 AI 설명 버튼을 누르면 설명 모달이 열립니다.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기능의 핵심은 데이터를 더 많이 보내는 것이 아니라, 필요한 정보만 구조화해서 보내는 것입니다. OpenAI Responses API 호출은 Vercel 서버 함수에서 수행하고, 연결이 없을 때도 시연 가능한 대체 설명을 둡니다.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OpenAI API quickstart: https://platform.openai.com/docs/quickstart/make-your-first-api-request</a:t>
            </a:r>
          </a:p>
          <a:p xmlns:a="http://schemas.openxmlformats.org/drawingml/2006/main">
            <a:r>
              <a:t>- OpenAI API data controls: https://platform.openai.com/docs/models/default-usage-policies-by-endpoint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AI를 기능 시연으로 끝내지 않고, 사용자가 상태를 바꾸고 절약 목표를 확인하는 행동까지 연결합니다.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마지막에는 기능 목록보다 사용자가 얻게 되는 행동 변화를 남깁니다. 공식 대회는 자유 주제이며 실제 문제 해결과 AI 활용 적절성을 평가하므로, 서비스 링크와 AI 기능을 함께 제시합니다.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Wanted AI Championship 2026 official guide: https://static.wanted.co.kr/ai-championship/2026/landing.html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fb044f75e341c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0990dffec548df" /><Relationship Type="http://schemas.openxmlformats.org/officeDocument/2006/relationships/slideLayout" Target="/ppt/slideLayouts/slideLayout1.xml" Id="R2f10fdee7e0347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10fdee7e0347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dc9ac2415450e" /><Relationship Type="http://schemas.openxmlformats.org/officeDocument/2006/relationships/image" Target="/ppt/media/image.png" Id="Ra68277ea22c24bf7" /><Relationship Type="http://schemas.openxmlformats.org/officeDocument/2006/relationships/notesSlide" Target="/ppt/notesSlides/notesSlide1.xml" Id="R33317122a9174c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ea7ae49894a34" /><Relationship Type="http://schemas.openxmlformats.org/officeDocument/2006/relationships/notesSlide" Target="/ppt/notesSlides/notesSlide2.xml" Id="Ra157aed6859744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26b960b7f04a85" /><Relationship Type="http://schemas.openxmlformats.org/officeDocument/2006/relationships/notesSlide" Target="/ppt/notesSlides/notesSlide3.xml" Id="R898624cd42744c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d99c92ff3d4dd7" /><Relationship Type="http://schemas.openxmlformats.org/officeDocument/2006/relationships/image" Target="/ppt/media/image2.png" Id="R6765acbfa8574870" /><Relationship Type="http://schemas.openxmlformats.org/officeDocument/2006/relationships/notesSlide" Target="/ppt/notesSlides/notesSlide4.xml" Id="Rf8da4f423f374ab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587b20a50944a6" /><Relationship Type="http://schemas.openxmlformats.org/officeDocument/2006/relationships/notesSlide" Target="/ppt/notesSlides/notesSlide5.xml" Id="R869222ccf2bb490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e581bfebb6465d" /><Relationship Type="http://schemas.openxmlformats.org/officeDocument/2006/relationships/notesSlide" Target="/ppt/notesSlides/notesSlide6.xml" Id="Ra298b68f0dc24d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0f4cd8d974ae6" /><Relationship Type="http://schemas.openxmlformats.org/officeDocument/2006/relationships/notesSlide" Target="/ppt/notesSlides/notesSlide7.xml" Id="Rb6fde37d0d2e44f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9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340BFE-CE42-4D92-BD80-7CDDB064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0EF2D-19BE-4451-887F-1B0DCE7C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FFFFF"/>
                </a:solidFill>
              </a:defRPr>
            </a:pPr>
            <a:r>
              <a:rPr sz="4350" b="1" i="0">
                <a:solidFill>
                  <a:srgbClr val="FFFFFF"/>
                </a:solidFill>
              </a:rPr>
              <a:t>구독청소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0C7ED6-C788-4B4F-9DAC-6805DA6E1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5334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DFEEE7"/>
                </a:solidFill>
              </a:defRPr>
            </a:pPr>
            <a:r>
              <a:rPr sz="2250" b="1" i="0">
                <a:solidFill>
                  <a:srgbClr val="DFEEE7"/>
                </a:solidFill>
              </a:rPr>
              <a:t>결제내역을 붙여넣으면</a:t>
            </a:r>
          </a:p>
          <a:p xmlns:a="http://schemas.openxmlformats.org/drawingml/2006/main">
            <a:pPr algn="l">
              <a:defRPr sz="2250" b="1" i="0">
                <a:solidFill>
                  <a:srgbClr val="DFEEE7"/>
                </a:solidFill>
              </a:defRPr>
            </a:pPr>
            <a:r>
              <a:rPr sz="2250" b="1" i="0">
                <a:solidFill>
                  <a:srgbClr val="DFEEE7"/>
                </a:solidFill>
              </a:rPr>
              <a:t>AI가 다음 행동까지 설명합니다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CE17CE-D183-4A81-BEE1-4748C0EB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531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D23F"/>
                </a:solidFill>
              </a:defRPr>
            </a:pPr>
            <a:r>
              <a:rPr sz="1350" b="1" i="0">
                <a:solidFill>
                  <a:srgbClr val="FFD23F"/>
                </a:solidFill>
              </a:rPr>
              <a:t>Wanted AI Championship 2026  ·  출품 발표자료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6B4CA4-09C4-4B3F-8712-4F3BD102A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723900"/>
            <a:ext cx="3048000" cy="533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FFFDFA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8277ea22c24bf7"/>
          <a:stretch xmlns:a="http://schemas.openxmlformats.org/drawingml/2006/main"/>
        </p:blipFill>
        <p:spPr>
          <a:xfrm xmlns:a="http://schemas.openxmlformats.org/drawingml/2006/main">
            <a:off x="8286750" y="1020233"/>
            <a:ext cx="2667000" cy="4741333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</p:spTree>
    <p:extLst>
      <p:ext uri="{BB962C8B-B14F-4D97-AF65-F5344CB8AC3E}">
        <p14:creationId xmlns:p14="http://schemas.microsoft.com/office/powerpoint/2010/main" val="19913502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98B134-EF07-4069-B890-AA720ECA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2905C-13C7-4AC1-9E7B-5647A95B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문제는 지출이 아니라 기억의 빈틈입니다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0387D7-ABDC-46C4-AC35-75EA8773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F6611-5045-4C6F-8782-85432B91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23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매달 빠져나가는 결제는 여러 카드와 서비스에 흩어져 있고,</a:t>
            </a:r>
          </a:p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사용자는 그 결제가 아직 필요한지 다시 판단할 순간을 놓칩니다.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AA5826-9859-41DD-95D6-263647A7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2B6064-BA5A-4539-843A-ABD245B5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43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18060"/>
                </a:solidFill>
              </a:defRPr>
            </a:pPr>
            <a:r>
              <a:rPr sz="1650" b="1" i="0">
                <a:solidFill>
                  <a:srgbClr val="118060"/>
                </a:solidFill>
              </a:rPr>
              <a:t>흩어진 흔적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D87090-07FE-4F02-845F-18D7511C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81450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카드 문자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카드앱 알림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앱스토어·간편결제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05C8C-1898-48D7-92EC-51E9A7D3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7660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A37B94-88DA-4059-82E5-75D037C3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43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E0644F"/>
                </a:solidFill>
              </a:defRPr>
            </a:pPr>
            <a:r>
              <a:rPr sz="1650" b="1" i="0">
                <a:solidFill>
                  <a:srgbClr val="E0644F"/>
                </a:solidFill>
              </a:rPr>
              <a:t>놓치는 판단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6C37E2-3291-430D-9500-5D5955A7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81450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이게 구독인가?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다음 결제일은 언제인가?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계속 써야 하나?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E454DF-FE75-4C61-A97E-2B7D325E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57500"/>
            <a:ext cx="2857500" cy="2647950"/>
          </a:xfrm>
          <a:prstGeom xmlns:a="http://schemas.openxmlformats.org/drawingml/2006/main" prst="roundRect">
            <a:avLst>
              <a:gd name="adj" fmla="val 5755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AA0DF3-B3AF-4A10-BF7C-D0835350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194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D23F"/>
                </a:solidFill>
              </a:defRPr>
            </a:pPr>
            <a:r>
              <a:rPr sz="1500" b="1" i="0">
                <a:solidFill>
                  <a:srgbClr val="FFD23F"/>
                </a:solidFill>
              </a:rPr>
              <a:t>구독청소의 질문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96EFD5-CE33-4B8C-A83F-49E481DB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1475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“이번 달에</a:t>
            </a:r>
          </a:p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반복해서 빠지는 돈은</a:t>
            </a:r>
          </a:p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얼마인가?”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25A002-1156-4DFA-A892-C77EAA9E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6135384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080A0C-00B8-495C-A1AC-0AC9D2EEA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8DD22-CD2C-4E3E-859B-F4489D3C3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붙여넣기 한 번이 점검 루틴을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B16772-B0F1-4720-8848-3320BB9B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EBCE50-C194-4688-A198-F24FF4AA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7AA0BC-D58C-4B96-87C7-79D8C43C3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4F6F1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6B6BB2-5B50-4F04-8B2B-BBDA3A96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A4874A-A990-4B44-AF07-C5C657FC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붙여넣기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F2A962-03B4-41DF-9E0B-A1E354FA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756E"/>
                </a:solidFill>
              </a:defRPr>
            </a:pPr>
            <a:r>
              <a:rPr sz="1275" b="0" i="0">
                <a:solidFill>
                  <a:srgbClr val="63756E"/>
                </a:solidFill>
              </a:rPr>
              <a:t>카드 문자·앱 알림·CSV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1A610E-964B-4131-8AFB-9920ABE9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BD5B05-CABA-4EBA-943F-69BF4C2E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4F6F1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899CC3-308F-4CBF-A98A-27942B27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DA0959-0F5A-4E26-8472-E64E3E4A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추출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E79DD8-E7D5-4585-A6D4-81A09779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756E"/>
                </a:solidFill>
              </a:defRPr>
            </a:pPr>
            <a:r>
              <a:rPr sz="1275" b="0" i="0">
                <a:solidFill>
                  <a:srgbClr val="63756E"/>
                </a:solidFill>
              </a:rPr>
              <a:t>날짜·결제처·금액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A079D8-2E61-47C0-8CB7-F8E3D35D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8CB26E-A8AD-4CB6-A7EB-F6C4593F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4F6F1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9BBD7B-B4AE-4A18-B290-F441F004C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2801A7-5B16-4482-9D0D-E5AE018E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후보화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F40904-6993-473E-A235-54F16FBB2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756E"/>
                </a:solidFill>
              </a:defRPr>
            </a:pPr>
            <a:r>
              <a:rPr sz="1275" b="0" i="0">
                <a:solidFill>
                  <a:srgbClr val="63756E"/>
                </a:solidFill>
              </a:rPr>
              <a:t>반복 주기·신뢰도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3C5E54-B663-4067-99EA-D1E376747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0B26EC-D040-481B-BA0E-35B34F15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D23F"/>
                </a:solidFill>
              </a:defRPr>
            </a:pPr>
            <a:r>
              <a:rPr sz="1200" b="1" i="0">
                <a:solidFill>
                  <a:srgbClr val="FFD23F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A7F8F8-4C33-4480-A5B0-27944230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행동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F3F6BC-772E-46BE-AF9A-7CA0E610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DFEEE7"/>
                </a:solidFill>
              </a:defRPr>
            </a:pPr>
            <a:r>
              <a:rPr sz="1275" b="1" i="0">
                <a:solidFill>
                  <a:srgbClr val="DFEEE7"/>
                </a:solidFill>
              </a:rPr>
              <a:t>유지·해지예정·모름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3B90CD-09FB-4154-A18C-E95C660B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63756E"/>
                </a:solidFill>
              </a:defRPr>
            </a:pPr>
            <a:r>
              <a:rPr sz="1500" b="1" i="0">
                <a:solidFill>
                  <a:srgbClr val="63756E"/>
                </a:solidFill>
              </a:rPr>
              <a:t>기본 분석은 브라우저에서 실행되고, 사용자가 원할 때만 후보 요약값으로 AI 설명을 요청합니다.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7C59BD-E876-46D9-AA8A-DF7410C2E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19834343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0B4562-4FE4-4124-B306-FF3DBA23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82B182-5BEA-454E-BC2C-907BBD509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14건의 결제내역이 5개 후보와 월 예상액으로 바뀝니다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24C0BA-2706-4049-BE70-1456CB34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D3AE8-D1AF-4F85-8F43-5344B636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8060"/>
                </a:solidFill>
              </a:defRPr>
            </a:pPr>
            <a:r>
              <a:rPr sz="1350" b="1" i="0">
                <a:solidFill>
                  <a:srgbClr val="118060"/>
                </a:solidFill>
              </a:rPr>
              <a:t>샘플 입력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A33547-E875-4B38-AF10-CBB83CA9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3251F"/>
                </a:solidFill>
              </a:defRPr>
            </a:pPr>
            <a:r>
              <a:rPr sz="4350" b="1" i="0">
                <a:solidFill>
                  <a:srgbClr val="13251F"/>
                </a:solidFill>
              </a:rPr>
              <a:t>14건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0F6B1F-06AB-4718-A73D-950BCF6E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3756E"/>
                </a:solidFill>
              </a:defRPr>
            </a:pPr>
            <a:r>
              <a:rPr sz="1425" b="0" i="0">
                <a:solidFill>
                  <a:srgbClr val="63756E"/>
                </a:solidFill>
              </a:rPr>
              <a:t>카드 승인 문자와 결제내역을</a:t>
            </a:r>
          </a:p>
          <a:p xmlns:a="http://schemas.openxmlformats.org/drawingml/2006/main">
            <a:pPr algn="l">
              <a:defRPr sz="1425" b="0" i="0">
                <a:solidFill>
                  <a:srgbClr val="63756E"/>
                </a:solidFill>
              </a:defRPr>
            </a:pPr>
            <a:r>
              <a:rPr sz="1425" b="0" i="0">
                <a:solidFill>
                  <a:srgbClr val="63756E"/>
                </a:solidFill>
              </a:rPr>
              <a:t>한 번에 붙여넣습니다.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7CEE89-B5BD-45E3-9489-FD59F965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3143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150497-403A-4A95-A601-31831175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720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D23F"/>
                </a:solidFill>
              </a:defRPr>
            </a:pPr>
            <a:r>
              <a:rPr sz="1650" b="1" i="0">
                <a:solidFill>
                  <a:srgbClr val="FFD23F"/>
                </a:solidFill>
              </a:rPr>
              <a:t>5개 후보  ·  월 63,790원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57CAA4-56C9-495E-9936-498524C4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911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DFEEE7"/>
                </a:solidFill>
              </a:defRPr>
            </a:pPr>
            <a:r>
              <a:rPr sz="1200" b="0" i="0">
                <a:solidFill>
                  <a:srgbClr val="DFEEE7"/>
                </a:solidFill>
              </a:rPr>
              <a:t>반복 주기와 다음 예상일을 함께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1DFEB5-6750-4D96-83A9-635A3DB5D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28800"/>
            <a:ext cx="6096000" cy="43434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65acbfa8574870"/>
          <a:stretch xmlns:a="http://schemas.openxmlformats.org/drawingml/2006/main"/>
        </p:blipFill>
        <p:spPr>
          <a:xfrm xmlns:a="http://schemas.openxmlformats.org/drawingml/2006/main">
            <a:off x="5029200" y="2069042"/>
            <a:ext cx="5562600" cy="3862917"/>
          </a:xfrm>
          <a:prstGeom xmlns:a="http://schemas.openxmlformats.org/drawingml/2006/main" prst="roundRect">
            <a:avLst>
              <a:gd name="adj" fmla="val 2830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32F8DD-2CB6-4659-83AD-E9503020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7786429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77AEE6-D10E-4870-A9DC-629E3E83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FE604C-BBD4-44B5-9F1F-90BF887D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AI는 결제 원문 대신 요약값만 읽습니다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D20DDC-2F37-438E-94D7-00E5A86A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9BB906-8993-4784-952F-A1526A78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DFEEE7"/>
          </a:solidFill>
          <a:ln xmlns:a="http://schemas.openxmlformats.org/drawingml/2006/main" w="9525">
            <a:solidFill>
              <a:srgbClr val="DFE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714002-4D98-4E3E-A16F-9BE37B0A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브라우저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CEA730-E5EC-4EC4-9435-C81F8A19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원문 입력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날짜·결제처·금액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주기·신뢰도 추출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FF155C-1686-47F8-8AA8-65E4CB98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8600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1FBB61-4B08-4320-A2B7-DB5F0662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71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Vercel 함수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4F7EE4-7239-418A-995A-12A9592D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API 키 보호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요약값만 전달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store: false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152182-06D8-45E9-AEDF-3F049025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8600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9974BE-E8AF-4725-B383-F7E5F9C0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71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AI 설명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5FE216-D8EC-4746-BDEA-604037CB2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4325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판단 근거</a:t>
            </a:r>
          </a:p>
          <a:p xmlns:a="http://schemas.openxmlformats.org/drawingml/2006/main">
            <a:pPr algn="l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월 지출 영향</a:t>
            </a:r>
          </a:p>
          <a:p xmlns:a="http://schemas.openxmlformats.org/drawingml/2006/main">
            <a:pPr algn="l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다음 행동·주의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4F0556-9F7E-4970-B394-20FDEA3D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8060"/>
                </a:solidFill>
              </a:defRPr>
            </a:pPr>
            <a:r>
              <a:rPr sz="1575" b="1" i="0">
                <a:solidFill>
                  <a:srgbClr val="118060"/>
                </a:solidFill>
              </a:rPr>
              <a:t>원문 결제내역 전송 없음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592F1B-9E29-471C-B456-4D2CDF16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8060"/>
                </a:solidFill>
              </a:defRPr>
            </a:pPr>
            <a:r>
              <a:rPr sz="1575" b="1" i="0">
                <a:solidFill>
                  <a:srgbClr val="118060"/>
                </a:solidFill>
              </a:rPr>
              <a:t>브라우저에 API 키 노출 없음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423CC1-5C18-4E58-AC91-063C31F1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673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8060"/>
                </a:solidFill>
              </a:defRPr>
            </a:pPr>
            <a:r>
              <a:rPr sz="1575" b="1" i="0">
                <a:solidFill>
                  <a:srgbClr val="118060"/>
                </a:solidFill>
              </a:rPr>
              <a:t>연결 실패 시 로컬 자동 설명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3C8939-3040-41FF-9FC7-EE38252F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874567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667143-9C3A-4DCC-98BD-6B955983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OUTCOME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3D9BAD-70E8-4D00-AEF3-D1BCD7D0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판단을 설명으로 바꾸면 다음 행동까지 이어집니다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1103A5-775E-491E-AA2D-A6FA509C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7F5FB5-80CF-42B3-A672-3B043601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57150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B0767-1FE8-4302-838C-57D25FA9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00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D23F"/>
                </a:solidFill>
              </a:defRPr>
            </a:pPr>
            <a:r>
              <a:rPr sz="1350" b="1" i="0">
                <a:solidFill>
                  <a:srgbClr val="FFD23F"/>
                </a:solidFill>
              </a:rPr>
              <a:t>AI 설명 예시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F6DB86-D163-4484-8BA6-83466306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4857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판단  최근 3개월 월간 반복 결제 후보입니다.</a:t>
            </a:r>
          </a:p>
          <a:p xmlns:a="http://schemas.openxmlformats.org/drawingml/2006/main">
            <a:pPr algn="l"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영향  월 17,000원이 반복 지출에 포함될 수 있습니다.</a:t>
            </a:r>
          </a:p>
          <a:p xmlns:a="http://schemas.openxmlformats.org/drawingml/2006/main">
            <a:pPr algn="l"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다음 행동  다음 결제 전 실제 이용 여부를 확인하세요.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40486E-1AD8-4650-9AAE-63509053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4815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DFEEE7"/>
                </a:solidFill>
              </a:defRPr>
            </a:pPr>
            <a:r>
              <a:rPr sz="1125" b="0" i="0">
                <a:solidFill>
                  <a:srgbClr val="DFEEE7"/>
                </a:solidFill>
              </a:rPr>
              <a:t>참고 정보이며 카드사 조회나 해지 대행이 아닙니다.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04476D-79E7-43DE-BDD7-8A589A92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95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8060"/>
                </a:solidFill>
              </a:defRPr>
            </a:pPr>
            <a:r>
              <a:rPr sz="1350" b="1" i="0">
                <a:solidFill>
                  <a:srgbClr val="118060"/>
                </a:solidFill>
              </a:rPr>
              <a:t>결과 화면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B0FCFA-4F43-47A2-ABD5-5D473280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52700"/>
            <a:ext cx="3810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3251F"/>
                </a:solidFill>
              </a:defRPr>
            </a:pPr>
            <a:r>
              <a:rPr sz="2250" b="1" i="0">
                <a:solidFill>
                  <a:srgbClr val="13251F"/>
                </a:solidFill>
              </a:rPr>
              <a:t>해지예정으로 표시하면</a:t>
            </a:r>
          </a:p>
          <a:p xmlns:a="http://schemas.openxmlformats.org/drawingml/2006/main">
            <a:pPr algn="l">
              <a:defRPr sz="2250" b="1" i="0">
                <a:solidFill>
                  <a:srgbClr val="13251F"/>
                </a:solidFill>
              </a:defRPr>
            </a:pPr>
            <a:r>
              <a:rPr sz="2250" b="1" i="0">
                <a:solidFill>
                  <a:srgbClr val="13251F"/>
                </a:solidFill>
              </a:rPr>
              <a:t>예상 절약액과 목표 진행률이</a:t>
            </a:r>
          </a:p>
          <a:p xmlns:a="http://schemas.openxmlformats.org/drawingml/2006/main">
            <a:pPr algn="l">
              <a:defRPr sz="2250" b="1" i="0">
                <a:solidFill>
                  <a:srgbClr val="13251F"/>
                </a:solidFill>
              </a:defRPr>
            </a:pPr>
            <a:r>
              <a:rPr sz="2250" b="1" i="0">
                <a:solidFill>
                  <a:srgbClr val="13251F"/>
                </a:solidFill>
              </a:rPr>
              <a:t>즉시 갱신됩니다.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CEAD9D-1797-41B0-904F-48A52358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29100"/>
            <a:ext cx="2857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CD2C20-BA44-4948-905E-EF29FA83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624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0D2921"/>
                </a:solidFill>
              </a:defRPr>
            </a:pPr>
            <a:r>
              <a:rPr sz="1575" b="1" i="0">
                <a:solidFill>
                  <a:srgbClr val="0D2921"/>
                </a:solidFill>
              </a:rPr>
              <a:t>분석 → 이해 → 행동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2A25A2-219E-40D9-B9FC-AE4168BA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9206208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29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694B3F-6029-4748-BF61-4294D028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다음 결제 전에, 하나부터 확인하세요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A803A0-930C-4463-BB62-78EAD349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666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DFEEE7"/>
                </a:solidFill>
              </a:defRPr>
            </a:pPr>
            <a:r>
              <a:rPr sz="2100" b="1" i="0">
                <a:solidFill>
                  <a:srgbClr val="DFEEE7"/>
                </a:solidFill>
              </a:rPr>
              <a:t>구독청소는 반복 결제를 발견하고,</a:t>
            </a:r>
          </a:p>
          <a:p xmlns:a="http://schemas.openxmlformats.org/drawingml/2006/main">
            <a:pPr algn="l">
              <a:defRPr sz="2100" b="1" i="0">
                <a:solidFill>
                  <a:srgbClr val="DFEEE7"/>
                </a:solidFill>
              </a:defRPr>
            </a:pPr>
            <a:r>
              <a:rPr sz="2100" b="1" i="0">
                <a:solidFill>
                  <a:srgbClr val="DFEEE7"/>
                </a:solidFill>
              </a:rPr>
              <a:t>AI가 이해 가능한 다음 행동으로 번역합니다.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112D84-AEB9-4A54-9FFD-AAF69121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44767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73AF9B-49CE-4E55-842E-170C79E1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0D2921"/>
                </a:solidFill>
              </a:defRPr>
            </a:pPr>
            <a:r>
              <a:rPr sz="1425" b="1" i="0">
                <a:solidFill>
                  <a:srgbClr val="0D2921"/>
                </a:solidFill>
              </a:rPr>
              <a:t>https://subscription-cleaning.vercel.app/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4E2E04-AA68-432A-B291-8148D28A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D23F"/>
                </a:solidFill>
              </a:defRPr>
            </a:pPr>
            <a:r>
              <a:rPr sz="1350" b="1" i="0">
                <a:solidFill>
                  <a:srgbClr val="FFD23F"/>
                </a:solidFill>
              </a:rPr>
              <a:t>실제 문제  ·  배포된 서비스  ·  AI 활용  ·  확장 가능한 구조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769C09-F2CC-46D2-89C0-9BEA2AC2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195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구독청소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5C88FC-4C4E-4366-99BA-D5B4CF98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100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0" i="0">
                <a:solidFill>
                  <a:srgbClr val="DFEEE7"/>
                </a:solidFill>
              </a:defRPr>
            </a:pPr>
            <a:r>
              <a:rPr sz="1350" b="0" i="0">
                <a:solidFill>
                  <a:srgbClr val="DFEEE7"/>
                </a:solidFill>
              </a:rPr>
              <a:t>Subscription Cleaning</a:t>
            </a:r>
          </a:p>
        </p:txBody>
      </p:sp>
    </p:spTree>
    <p:extLst>
      <p:ext uri="{BB962C8B-B14F-4D97-AF65-F5344CB8AC3E}">
        <p14:creationId xmlns:p14="http://schemas.microsoft.com/office/powerpoint/2010/main" val="20440655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2026-08-25T12:13:08.6220000Z</dcterms:created>
  <dcterms:modified xsi:type="dcterms:W3CDTF">2026-08-25T12:13:08.6220000Z</dcterms:modified>
</coreProperties>
</file>