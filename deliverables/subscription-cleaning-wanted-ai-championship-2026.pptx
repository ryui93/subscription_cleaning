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33a30fda46444e" /><Relationship Type="http://schemas.openxmlformats.org/officeDocument/2006/relationships/extended-properties" Target="/docProps/app.xml" Id="R7d31fa116bd24d6d" /><Relationship Type="http://schemas.openxmlformats.org/officeDocument/2006/relationships/officeDocument" Target="/ppt/presentation.xml" Id="Rf10a08e2054249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5f4989fe8b4f52"/>
  </p:sldMasterIdLst>
  <p:notesMasterIdLst>
    <p:notesMasterId xmlns:r="http://schemas.openxmlformats.org/officeDocument/2006/relationships" r:id="R2e72d144afaa490c"/>
  </p:notesMasterIdLst>
  <p:sldIdLst>
    <p:sldId xmlns:r="http://schemas.openxmlformats.org/officeDocument/2006/relationships" id="256" r:id="Rab77793f9dcf4e68"/>
    <p:sldId xmlns:r="http://schemas.openxmlformats.org/officeDocument/2006/relationships" id="257" r:id="R4f4ac99af9464b68"/>
    <p:sldId xmlns:r="http://schemas.openxmlformats.org/officeDocument/2006/relationships" id="258" r:id="R5fb894111c554e7f"/>
    <p:sldId xmlns:r="http://schemas.openxmlformats.org/officeDocument/2006/relationships" id="259" r:id="R11eb0c7ee25b46e4"/>
    <p:sldId xmlns:r="http://schemas.openxmlformats.org/officeDocument/2006/relationships" id="260" r:id="R886311ce9ca34679"/>
    <p:sldId xmlns:r="http://schemas.openxmlformats.org/officeDocument/2006/relationships" id="261" r:id="Rc2ef5a8c82954334"/>
    <p:sldId xmlns:r="http://schemas.openxmlformats.org/officeDocument/2006/relationships" id="262" r:id="R4e96d94f9b134ad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86d58a87f4d4d30" /><Relationship Type="http://schemas.openxmlformats.org/officeDocument/2006/relationships/slideMaster" Target="/ppt/slideMasters/slideMaster1.xml" Id="Ref5f4989fe8b4f52" /><Relationship Type="http://schemas.openxmlformats.org/officeDocument/2006/relationships/notesMaster" Target="/ppt/notesMasters/notesMaster1.xml" Id="R2e72d144afaa490c" /><Relationship Type="http://schemas.openxmlformats.org/officeDocument/2006/relationships/presProps" Target="/ppt/presProps.xml" Id="R3b682ff16ccd4d88" /><Relationship Type="http://schemas.openxmlformats.org/officeDocument/2006/relationships/tableStyles" Target="/ppt/tableStyles.xml" Id="Rbdebd85f6bc448db" /><Relationship Type="http://schemas.openxmlformats.org/officeDocument/2006/relationships/slide" Target="/ppt/slides/slide1.xml" Id="Rab77793f9dcf4e68" /><Relationship Type="http://schemas.openxmlformats.org/officeDocument/2006/relationships/slide" Target="/ppt/slides/slide2.xml" Id="R4f4ac99af9464b68" /><Relationship Type="http://schemas.openxmlformats.org/officeDocument/2006/relationships/slide" Target="/ppt/slides/slide3.xml" Id="R5fb894111c554e7f" /><Relationship Type="http://schemas.openxmlformats.org/officeDocument/2006/relationships/slide" Target="/ppt/slides/slide4.xml" Id="R11eb0c7ee25b46e4" /><Relationship Type="http://schemas.openxmlformats.org/officeDocument/2006/relationships/slide" Target="/ppt/slides/slide5.xml" Id="R886311ce9ca34679" /><Relationship Type="http://schemas.openxmlformats.org/officeDocument/2006/relationships/slide" Target="/ppt/slides/slide6.xml" Id="Rc2ef5a8c82954334" /><Relationship Type="http://schemas.openxmlformats.org/officeDocument/2006/relationships/slide" Target="/ppt/slides/slide7.xml" Id="R4e96d94f9b134ad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ea1ad096aae44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8af6e855c694e35" /><Relationship Type="http://schemas.openxmlformats.org/officeDocument/2006/relationships/notesMaster" Target="/ppt/notesMasters/notesMaster1.xml" Id="Re55d9e6106754d0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04f68feaa664826" /><Relationship Type="http://schemas.openxmlformats.org/officeDocument/2006/relationships/notesMaster" Target="/ppt/notesMasters/notesMaster1.xml" Id="Re52b73528d5449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fb672800e24469e" /><Relationship Type="http://schemas.openxmlformats.org/officeDocument/2006/relationships/notesMaster" Target="/ppt/notesMasters/notesMaster1.xml" Id="Rd802fa1077a74e2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f357956fd8a4329" /><Relationship Type="http://schemas.openxmlformats.org/officeDocument/2006/relationships/notesMaster" Target="/ppt/notesMasters/notesMaster1.xml" Id="R5acae8b032db4ff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e66be634fa34b6e" /><Relationship Type="http://schemas.openxmlformats.org/officeDocument/2006/relationships/notesMaster" Target="/ppt/notesMasters/notesMaster1.xml" Id="R779e8a4e617a43a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d165f945a84428" /><Relationship Type="http://schemas.openxmlformats.org/officeDocument/2006/relationships/notesMaster" Target="/ppt/notesMasters/notesMaster1.xml" Id="R75f0585ee0cf4d9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3cb67ee8e8d41c2" /><Relationship Type="http://schemas.openxmlformats.org/officeDocument/2006/relationships/notesMaster" Target="/ppt/notesMasters/notesMaster1.xml" Id="Reee96dae6d0f425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서비스 이름과 한 문장 가치 제안을 먼저 보여줍니다. 이 프로젝트는 반복 결제를 찾는 데서 끝나지 않고, AI가 사용자가 취할 다음 행동까지 설명하는 점이 핵심입니다.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반복 결제 관리의 문제를 ‘기록 부족’이 아니라 ‘판단할 수 있는 형태로 보이지 않음’으로 정의합니다.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서비스의 전체 흐름을 4단계로 보여줍니다. 입력 장벽을 낮추고, 결과를 행동으로 연결하는 것이 중요한 설계입니다.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시연 화면은 샘플 결제내역을 분석한 실제 로컬 실행 결과입니다. 14건에서 5개 후보가 생성되고, 결제처가 통합·분류됩니다. 후보 카드의 AI 설명 버튼을 누르면 설명 모달이 열립니다.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기능의 핵심은 데이터를 더 많이 보내는 것이 아니라, 필요한 정보만 구조화해서 보내는 것입니다. OpenAI Responses API 호출은 Vercel 서버 함수에서 수행하고, 연결이 없을 때도 시연 가능한 대체 설명을 둡니다.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OpenAI API quickstart: https://platform.openai.com/docs/quickstart/make-your-first-api-request</a:t>
            </a:r>
          </a:p>
          <a:p xmlns:a="http://schemas.openxmlformats.org/drawingml/2006/main">
            <a:r>
              <a:t>- OpenAI API data controls: https://platform.openai.com/docs/models/default-usage-policies-by-endpoint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AI를 기능 시연으로 끝내지 않고, 결제처 통합과 분류 결과를 사용자의 상태 선택과 절약 목표 확인까지 연결합니다.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마지막에는 기능 목록보다 사용자가 얻게 되는 행동 변화를 남깁니다. 공식 대회는 자유 주제이며 실제 문제 해결과 AI 활용 적절성을 평가하므로, 서비스 링크와 AI 기능을 함께 제시합니다.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Wanted AI Championship 2026 official guide: https://static.wanted.co.kr/ai-championship/2026/landing.html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9e8c5917ad492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67bd5d4ee4744d1" /><Relationship Type="http://schemas.openxmlformats.org/officeDocument/2006/relationships/slideLayout" Target="/ppt/slideLayouts/slideLayout1.xml" Id="R90276e5f6415442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276e5f641544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8f21aa27234e57" /><Relationship Type="http://schemas.openxmlformats.org/officeDocument/2006/relationships/image" Target="/ppt/media/image.png" Id="Rd2d16e3cc1d24366" /><Relationship Type="http://schemas.openxmlformats.org/officeDocument/2006/relationships/notesSlide" Target="/ppt/notesSlides/notesSlide1.xml" Id="R34a72c3f4a2746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c27908f51b4c79" /><Relationship Type="http://schemas.openxmlformats.org/officeDocument/2006/relationships/notesSlide" Target="/ppt/notesSlides/notesSlide2.xml" Id="R2a596bd04afc4c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63907c2cc1496a" /><Relationship Type="http://schemas.openxmlformats.org/officeDocument/2006/relationships/notesSlide" Target="/ppt/notesSlides/notesSlide3.xml" Id="Re12a5155ba30463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e27a256f5248e8" /><Relationship Type="http://schemas.openxmlformats.org/officeDocument/2006/relationships/image" Target="/ppt/media/image2.png" Id="Raf30da1509e64569" /><Relationship Type="http://schemas.openxmlformats.org/officeDocument/2006/relationships/notesSlide" Target="/ppt/notesSlides/notesSlide4.xml" Id="R87fba5b4c9ae41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ae2006bbf44397" /><Relationship Type="http://schemas.openxmlformats.org/officeDocument/2006/relationships/notesSlide" Target="/ppt/notesSlides/notesSlide5.xml" Id="R4f27ddfc570b471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0735b09d544a1a" /><Relationship Type="http://schemas.openxmlformats.org/officeDocument/2006/relationships/notesSlide" Target="/ppt/notesSlides/notesSlide6.xml" Id="R53541baecf1542d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e3fdee804944ca" /><Relationship Type="http://schemas.openxmlformats.org/officeDocument/2006/relationships/notesSlide" Target="/ppt/notesSlides/notesSlide7.xml" Id="Raec4f3f30d27484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9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D62F14-2184-40C1-83F8-530EC4B7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C01A5B-AB5C-409F-81B7-7D2E927C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42950"/>
            <a:ext cx="457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FFFFFF"/>
                </a:solidFill>
              </a:defRPr>
            </a:pPr>
            <a:r>
              <a:rPr sz="4350" b="1" i="0">
                <a:solidFill>
                  <a:srgbClr val="FFFFFF"/>
                </a:solidFill>
              </a:rPr>
              <a:t>구독청소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92CB16-86AE-4D17-A77E-25B5A0112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95450"/>
            <a:ext cx="5334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DFEEE7"/>
                </a:solidFill>
              </a:defRPr>
            </a:pPr>
            <a:r>
              <a:rPr sz="2250" b="1" i="0">
                <a:solidFill>
                  <a:srgbClr val="DFEEE7"/>
                </a:solidFill>
              </a:rPr>
              <a:t>결제내역을 붙여넣으면</a:t>
            </a:r>
          </a:p>
          <a:p xmlns:a="http://schemas.openxmlformats.org/drawingml/2006/main">
            <a:pPr algn="l">
              <a:defRPr sz="2250" b="1" i="0">
                <a:solidFill>
                  <a:srgbClr val="DFEEE7"/>
                </a:solidFill>
              </a:defRPr>
            </a:pPr>
            <a:r>
              <a:rPr sz="2250" b="1" i="0">
                <a:solidFill>
                  <a:srgbClr val="DFEEE7"/>
                </a:solidFill>
              </a:rPr>
              <a:t>AI가 다음 행동까지 설명합니다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E66F0B-7B29-452F-A253-4D028623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531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D23F"/>
                </a:solidFill>
              </a:defRPr>
            </a:pPr>
            <a:r>
              <a:rPr sz="1350" b="1" i="0">
                <a:solidFill>
                  <a:srgbClr val="FFD23F"/>
                </a:solidFill>
              </a:rPr>
              <a:t>Wanted AI Championship 2026  ·  출품 발표자료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DCF206-DCC8-40EF-B40B-9C1DC0D7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723900"/>
            <a:ext cx="3048000" cy="533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DFA"/>
          </a:solidFill>
          <a:ln xmlns:a="http://schemas.openxmlformats.org/drawingml/2006/main" w="9525">
            <a:solidFill>
              <a:srgbClr val="FFFDFA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d16e3cc1d24366"/>
          <a:stretch xmlns:a="http://schemas.openxmlformats.org/drawingml/2006/main"/>
        </p:blipFill>
        <p:spPr>
          <a:xfrm xmlns:a="http://schemas.openxmlformats.org/drawingml/2006/main">
            <a:off x="8286750" y="1020233"/>
            <a:ext cx="2667000" cy="4741333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</p:spTree>
    <p:extLst>
      <p:ext uri="{BB962C8B-B14F-4D97-AF65-F5344CB8AC3E}">
        <p14:creationId xmlns:p14="http://schemas.microsoft.com/office/powerpoint/2010/main" val="8171983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3E3438-D7DD-4B3C-ADB8-D3CD0E8C5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B1741C-3915-4B18-8091-131902C8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문제는 지출이 아니라 기억의 빈틈입니다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CE595-96C4-4ADC-88B4-299E518DD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AFF541-EB30-4763-BD44-E65CA9046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23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매달 빠져나가는 결제는 여러 카드와 서비스에 흩어져 있고,</a:t>
            </a:r>
          </a:p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사용자는 그 결제가 아직 필요한지 다시 판단할 순간을 놓칩니다.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F4385E-6888-4A2B-9EE5-CFA8858D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DFA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A57B0E-E0A6-4F74-8E4A-0453E996D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43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18060"/>
                </a:solidFill>
              </a:defRPr>
            </a:pPr>
            <a:r>
              <a:rPr sz="1650" b="1" i="0">
                <a:solidFill>
                  <a:srgbClr val="118060"/>
                </a:solidFill>
              </a:rPr>
              <a:t>흩어진 흔적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072031-C413-4D47-A0FB-29C7D900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81450"/>
            <a:ext cx="247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카드 문자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카드앱 알림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앱스토어·간편결제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98FA51-367D-44B6-A15B-A07DE2937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7660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DFA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C55029-6245-4965-90CD-8B0B572C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543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E0644F"/>
                </a:solidFill>
              </a:defRPr>
            </a:pPr>
            <a:r>
              <a:rPr sz="1650" b="1" i="0">
                <a:solidFill>
                  <a:srgbClr val="E0644F"/>
                </a:solidFill>
              </a:rPr>
              <a:t>놓치는 판단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E91B59-474B-480A-8D93-085530AFE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981450"/>
            <a:ext cx="247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이게 구독인가?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다음 결제일은 언제인가?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계속 써야 하나?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84D3E0-36FF-4DDA-B58C-0E87EA312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57500"/>
            <a:ext cx="2857500" cy="2647950"/>
          </a:xfrm>
          <a:prstGeom xmlns:a="http://schemas.openxmlformats.org/drawingml/2006/main" prst="roundRect">
            <a:avLst>
              <a:gd name="adj" fmla="val 5755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D7B78A-D402-4DA8-B73F-C70E030A0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194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FD23F"/>
                </a:solidFill>
              </a:defRPr>
            </a:pPr>
            <a:r>
              <a:rPr sz="1500" b="1" i="0">
                <a:solidFill>
                  <a:srgbClr val="FFD23F"/>
                </a:solidFill>
              </a:rPr>
              <a:t>구독청소의 질문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4CE191-7E12-4756-8C03-9905DD7D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714750"/>
            <a:ext cx="209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“이번 달에</a:t>
            </a:r>
          </a:p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반복해서 빠지는 돈은</a:t>
            </a:r>
          </a:p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얼마인가?”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076BFF-3D8F-48F8-89E4-54AE753E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13438815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4777FE-FAC2-4767-8F53-727C8FAA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SOLUTION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44F5D3-155A-4D02-8350-84E67A2F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붙여넣기 한 번이 점검 루틴을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B74B35-3FF7-46D5-AB34-88096C98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A1C20A-C8FB-4F1E-81D4-6F47653D6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1432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1DF532-890C-4072-876D-BD2C48BE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21336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4F6F1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7845CC-181B-4E29-869A-FC72D0B3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1CC886-52C3-4F3A-A0A3-6613EE343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71800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붙여넣기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3CA9FD-C382-47D1-B8DC-9516304BA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242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3756E"/>
                </a:solidFill>
              </a:defRPr>
            </a:pPr>
            <a:r>
              <a:rPr sz="1275" b="0" i="0">
                <a:solidFill>
                  <a:srgbClr val="63756E"/>
                </a:solidFill>
              </a:rPr>
              <a:t>카드 문자·앱 알림·CSV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24F09E-8D71-4CFA-8D26-876CD8E4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1432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6BB1B5-7B5B-4A5E-A59F-0CE6578BF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24100"/>
            <a:ext cx="21336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4F6F1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7697B6-5EB0-4888-A506-C9DD07F6A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571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9CE269-232C-4567-9193-3B160791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71800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통합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AC0E54-7B53-47B8-88C2-D6C101FAA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242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3756E"/>
                </a:solidFill>
              </a:defRPr>
            </a:pPr>
            <a:r>
              <a:rPr sz="1275" b="0" i="0">
                <a:solidFill>
                  <a:srgbClr val="63756E"/>
                </a:solidFill>
              </a:rPr>
              <a:t>APPLE.COM/BILL → Apple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521985-29EA-4D27-BF43-83151ABFE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432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73A1D7-50D3-46DD-9001-6845A9FF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24100"/>
            <a:ext cx="21336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4F6F1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75252A-F577-4CE2-B42A-2741349B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71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933412-A320-4A15-9944-11DB31232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971800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후보화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DC7914-3E9E-44DA-A506-A9910123F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242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3756E"/>
                </a:solidFill>
              </a:defRPr>
            </a:pPr>
            <a:r>
              <a:rPr sz="1275" b="0" i="0">
                <a:solidFill>
                  <a:srgbClr val="63756E"/>
                </a:solidFill>
              </a:rPr>
              <a:t>분류·주기·신뢰도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FEEFEC-8171-439C-AAB8-F864B0A82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24100"/>
            <a:ext cx="21336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2F370D-5A35-485F-8138-17A1B09A7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571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FD23F"/>
                </a:solidFill>
              </a:defRPr>
            </a:pPr>
            <a:r>
              <a:rPr sz="1200" b="1" i="0">
                <a:solidFill>
                  <a:srgbClr val="FFD23F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83538B-57FA-49CE-A54F-360958C2A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971800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행동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710385-EDE0-4B60-ADE2-2E46A8E1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5242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DFEEE7"/>
                </a:solidFill>
              </a:defRPr>
            </a:pPr>
            <a:r>
              <a:rPr sz="1275" b="1" i="0">
                <a:solidFill>
                  <a:srgbClr val="DFEEE7"/>
                </a:solidFill>
              </a:rPr>
              <a:t>우선순위·절약액 확인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1E9A4E-E602-4BB7-858B-2AE786C5E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63756E"/>
                </a:solidFill>
              </a:defRPr>
            </a:pPr>
            <a:r>
              <a:rPr sz="1500" b="1" i="0">
                <a:solidFill>
                  <a:srgbClr val="63756E"/>
                </a:solidFill>
              </a:rPr>
              <a:t>기본 분석은 브라우저에서 실행되고, 사용자가 원할 때만 민감정보를 제거한 요약값으로 AI 설명을 요청합니다.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3DE169-A339-4A28-87D7-235E5ED30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1140615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617849-A7E5-4368-BFA0-9FC65AE95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F6DD2E-5CD0-44FA-8813-2047214B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14건의 결제내역이 5개 후보와 1년 예상액으로 바뀝니다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F6575C-63E2-4601-A611-7377EE06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BA894-F8E0-436E-9ED5-20E6CB922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8060"/>
                </a:solidFill>
              </a:defRPr>
            </a:pPr>
            <a:r>
              <a:rPr sz="1350" b="1" i="0">
                <a:solidFill>
                  <a:srgbClr val="118060"/>
                </a:solidFill>
              </a:rPr>
              <a:t>샘플 입력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93B954-5FC1-4C0D-9A51-63C644F9D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13251F"/>
                </a:solidFill>
              </a:defRPr>
            </a:pPr>
            <a:r>
              <a:rPr sz="4350" b="1" i="0">
                <a:solidFill>
                  <a:srgbClr val="13251F"/>
                </a:solidFill>
              </a:rPr>
              <a:t>14건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488EF9-C453-4FF1-AFAB-69DFD1BF9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3756E"/>
                </a:solidFill>
              </a:defRPr>
            </a:pPr>
            <a:r>
              <a:rPr sz="1425" b="0" i="0">
                <a:solidFill>
                  <a:srgbClr val="63756E"/>
                </a:solidFill>
              </a:rPr>
              <a:t>카드 승인 문자와 결제내역을</a:t>
            </a:r>
          </a:p>
          <a:p xmlns:a="http://schemas.openxmlformats.org/drawingml/2006/main">
            <a:pPr algn="l">
              <a:defRPr sz="1425" b="0" i="0">
                <a:solidFill>
                  <a:srgbClr val="63756E"/>
                </a:solidFill>
              </a:defRPr>
            </a:pPr>
            <a:r>
              <a:rPr sz="1425" b="0" i="0">
                <a:solidFill>
                  <a:srgbClr val="63756E"/>
                </a:solidFill>
              </a:rPr>
              <a:t>한 번에 붙여넣습니다.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5CF28E-09E9-449E-ABC7-A51FB871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31432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9B465F-8A26-4A66-ABF7-0BA363DF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7200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D23F"/>
                </a:solidFill>
              </a:defRPr>
            </a:pPr>
            <a:r>
              <a:rPr sz="1650" b="1" i="0">
                <a:solidFill>
                  <a:srgbClr val="FFD23F"/>
                </a:solidFill>
              </a:rPr>
              <a:t>5개 후보  ·  월 63,790원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5BE5CF-10EF-4C75-8DC2-F8909C5C9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911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DFEEE7"/>
                </a:solidFill>
              </a:defRPr>
            </a:pPr>
            <a:r>
              <a:rPr sz="1200" b="0" i="0">
                <a:solidFill>
                  <a:srgbClr val="DFEEE7"/>
                </a:solidFill>
              </a:rPr>
              <a:t>연 765,480원  ·  반복 주기와 분류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520C96-0B0F-4E86-9669-CB6F37A3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28800"/>
            <a:ext cx="6096000" cy="43434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DFA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30da1509e64569"/>
          <a:stretch xmlns:a="http://schemas.openxmlformats.org/drawingml/2006/main"/>
        </p:blipFill>
        <p:spPr>
          <a:xfrm xmlns:a="http://schemas.openxmlformats.org/drawingml/2006/main">
            <a:off x="5029200" y="2044898"/>
            <a:ext cx="5562600" cy="3911203"/>
          </a:xfrm>
          <a:prstGeom xmlns:a="http://schemas.openxmlformats.org/drawingml/2006/main" prst="roundRect">
            <a:avLst>
              <a:gd name="adj" fmla="val 2830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A09C3A-313D-42CF-981C-53DAC95B3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294862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7349D1-1A42-401A-AAE7-D4F7FDD8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B38468-FAF9-4B6A-A189-DAC02FB9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필요한 요약만 읽고, 선택할 때 실행됩니다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CEB163-AFC3-48D2-9334-8EB60540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8791DF-6EA6-477A-BE8D-A4375FBD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2571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DFEEE7"/>
          </a:solidFill>
          <a:ln xmlns:a="http://schemas.openxmlformats.org/drawingml/2006/main" w="9525">
            <a:solidFill>
              <a:srgbClr val="DFE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408B42-E618-4CAD-8348-8565A1F83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브라우저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D4C14E-1F21-4572-806E-3B82A187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결제처 통합·분류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주기·금액·신뢰도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민감정보 제거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2A603E-1A7E-4774-8692-05F49A42E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286000"/>
            <a:ext cx="2571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530B8F-0AF0-48D7-832F-B07EBCC22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717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Vercel 함수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C5384D-FB2B-44E8-9DCD-B21C439E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43250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사용자 버튼으로 실행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API 키 서버 보관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요약값만 전달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DA8A7A-DD2E-4B4A-8C8D-AA933169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286000"/>
            <a:ext cx="2571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29D1EC-2F58-4399-98FA-DD78F7822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717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AI 설명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61CA59-ED05-4055-BC9C-55A4302A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43250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후보 설명·우선순위</a:t>
            </a:r>
          </a:p>
          <a:p xmlns:a="http://schemas.openxmlformats.org/drawingml/2006/main">
            <a:pPr algn="l"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월·1년 절약액</a:t>
            </a:r>
          </a:p>
          <a:p xmlns:a="http://schemas.openxmlformats.org/drawingml/2006/main">
            <a:pPr algn="l"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다음 행동·주의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D57438-25F2-4EAB-AF02-4ABCC3FF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8060"/>
                </a:solidFill>
              </a:defRPr>
            </a:pPr>
            <a:r>
              <a:rPr sz="1575" b="1" i="0">
                <a:solidFill>
                  <a:srgbClr val="118060"/>
                </a:solidFill>
              </a:rPr>
              <a:t>원문·카드번호 전송 없음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9ED19E-7DFE-496D-9F67-C9188523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8060"/>
                </a:solidFill>
              </a:defRPr>
            </a:pPr>
            <a:r>
              <a:rPr sz="1575" b="1" i="0">
                <a:solidFill>
                  <a:srgbClr val="118060"/>
                </a:solidFill>
              </a:rPr>
              <a:t>AI 분석 하루 5회 · 사용량 표시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5A2A85-7C2C-4060-B72C-41D689262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673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8060"/>
                </a:solidFill>
              </a:defRPr>
            </a:pPr>
            <a:r>
              <a:rPr sz="1575" b="1" i="0">
                <a:solidFill>
                  <a:srgbClr val="118060"/>
                </a:solidFill>
              </a:rPr>
              <a:t>실패 시 로컬 자동 설명으로 계속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A6FF4E-4FBC-4150-A5DB-185E0AE23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21175649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11CE00-F43B-4E5F-B3F1-B620429B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OUTCOME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2E6679-DD7C-4FF8-A3B0-E99E43AF7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우선순위와 절약액이 다음 행동을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BD110-215D-4818-B189-1974883BC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52D24C-6F2D-43BE-88DD-66ABC8730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57150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A91EA3-7ABE-4195-84F7-4EACC5F6A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003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D23F"/>
                </a:solidFill>
              </a:defRPr>
            </a:pPr>
            <a:r>
              <a:rPr sz="1350" b="1" i="0">
                <a:solidFill>
                  <a:srgbClr val="FFD23F"/>
                </a:solidFill>
              </a:rPr>
              <a:t>AI 설명 예시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3A6D6B-97F3-4D26-9EA3-1E03BFA7B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4857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판단  최근 3개월 월간 반복 결제 후보입니다.</a:t>
            </a:r>
          </a:p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영향  월 17,000원 · 1년 204,000원입니다.</a:t>
            </a:r>
          </a:p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우선순위  모름 상태라 이용 여부를 먼저 확인하세요.</a:t>
            </a:r>
          </a:p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다음 행동  필요하면 해지예정으로 표시하세요.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9FD0E7-B346-46A9-83C8-E3E3DF43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10100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3756E"/>
                </a:solidFill>
              </a:defRPr>
            </a:pPr>
            <a:r>
              <a:rPr sz="1125" b="0" i="0">
                <a:solidFill>
                  <a:srgbClr val="63756E"/>
                </a:solidFill>
              </a:rPr>
              <a:t>참고 정보이며 카드사 조회나 해지 대행이 아닙니다.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822021-FF03-4E6A-AFA8-1C0711DE7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955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8060"/>
                </a:solidFill>
              </a:defRPr>
            </a:pPr>
            <a:r>
              <a:rPr sz="1350" b="1" i="0">
                <a:solidFill>
                  <a:srgbClr val="118060"/>
                </a:solidFill>
              </a:rPr>
              <a:t>결과 화면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EA68AF-E40B-40FE-9806-876E77190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52700"/>
            <a:ext cx="3810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3251F"/>
                </a:solidFill>
              </a:defRPr>
            </a:pPr>
            <a:r>
              <a:rPr sz="2100" b="1" i="0">
                <a:solidFill>
                  <a:srgbClr val="13251F"/>
                </a:solidFill>
              </a:rPr>
              <a:t>해지예정으로 표시하면</a:t>
            </a:r>
          </a:p>
          <a:p xmlns:a="http://schemas.openxmlformats.org/drawingml/2006/main">
            <a:pPr algn="l">
              <a:defRPr sz="2100" b="1" i="0">
                <a:solidFill>
                  <a:srgbClr val="13251F"/>
                </a:solidFill>
              </a:defRPr>
            </a:pPr>
            <a:r>
              <a:rPr sz="2100" b="1" i="0">
                <a:solidFill>
                  <a:srgbClr val="13251F"/>
                </a:solidFill>
              </a:rPr>
              <a:t>우선순위와 월·1년 절약액,</a:t>
            </a:r>
          </a:p>
          <a:p xmlns:a="http://schemas.openxmlformats.org/drawingml/2006/main">
            <a:pPr algn="l">
              <a:defRPr sz="2100" b="1" i="0">
                <a:solidFill>
                  <a:srgbClr val="13251F"/>
                </a:solidFill>
              </a:defRPr>
            </a:pPr>
            <a:r>
              <a:rPr sz="2100" b="1" i="0">
                <a:solidFill>
                  <a:srgbClr val="13251F"/>
                </a:solidFill>
              </a:rPr>
              <a:t>목표 진행률이 즉시 갱신됩니다.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279791-C692-4949-B492-18131167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229100"/>
            <a:ext cx="28575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4FDFD6-CABF-4B77-8C08-679D55D9E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624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0D2921"/>
                </a:solidFill>
              </a:defRPr>
            </a:pPr>
            <a:r>
              <a:rPr sz="1575" b="1" i="0">
                <a:solidFill>
                  <a:srgbClr val="0D2921"/>
                </a:solidFill>
              </a:rPr>
              <a:t>분석 → 이해 → 행동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055387-7BB9-4E82-821F-68665430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9558496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29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C18047-86A4-43D5-A740-F5CDB681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FFFFFF"/>
                </a:solidFill>
              </a:defRPr>
            </a:pPr>
            <a:r>
              <a:rPr sz="3450" b="1" i="0">
                <a:solidFill>
                  <a:srgbClr val="FFFFFF"/>
                </a:solidFill>
              </a:rPr>
              <a:t>다음 결제 전에, 하나부터 확인하세요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721EF6-B936-4225-87A9-EC32F6BB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723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DFEEE7"/>
                </a:solidFill>
              </a:defRPr>
            </a:pPr>
            <a:r>
              <a:rPr sz="1950" b="1" i="0">
                <a:solidFill>
                  <a:srgbClr val="DFEEE7"/>
                </a:solidFill>
              </a:rPr>
              <a:t>여러 카드와 결제 알림에 흩어진 자동결제를</a:t>
            </a:r>
          </a:p>
          <a:p xmlns:a="http://schemas.openxmlformats.org/drawingml/2006/main">
            <a:pPr algn="l">
              <a:defRPr sz="1950" b="1" i="0">
                <a:solidFill>
                  <a:srgbClr val="DFEEE7"/>
                </a:solidFill>
              </a:defRPr>
            </a:pPr>
            <a:r>
              <a:rPr sz="1950" b="1" i="0">
                <a:solidFill>
                  <a:srgbClr val="DFEEE7"/>
                </a:solidFill>
              </a:rPr>
              <a:t>AI로 정리하는 개인정보 보호형 구독 관리 도구입니다.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82E847-C208-463A-A1D0-8BA94B5C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44767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5EB5FB-2117-479F-87B6-A8A872DB0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0D2921"/>
                </a:solidFill>
              </a:defRPr>
            </a:pPr>
            <a:r>
              <a:rPr sz="1425" b="1" i="0">
                <a:solidFill>
                  <a:srgbClr val="0D2921"/>
                </a:solidFill>
              </a:rPr>
              <a:t>https://subscription-cleaning.vercel.app/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45C9CC-3094-49E4-AD8C-6E802513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D23F"/>
                </a:solidFill>
              </a:defRPr>
            </a:pPr>
            <a:r>
              <a:rPr sz="1350" b="1" i="0">
                <a:solidFill>
                  <a:srgbClr val="FFD23F"/>
                </a:solidFill>
              </a:rPr>
              <a:t>통합·분류  ·  AI 설명  ·  해지 우선순위  ·  월·1년 절약액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DFA39C-27EA-40C8-A2EE-0241408B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195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2850" b="1" i="0">
                <a:solidFill>
                  <a:srgbClr val="FFFFFF"/>
                </a:solidFill>
              </a:defRPr>
            </a:pPr>
            <a:r>
              <a:rPr sz="2850" b="1" i="0">
                <a:solidFill>
                  <a:srgbClr val="FFFFFF"/>
                </a:solidFill>
              </a:rPr>
              <a:t>구독청소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FEE9EA-8F22-43E1-8D52-045F68A04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100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0" i="0">
                <a:solidFill>
                  <a:srgbClr val="DFEEE7"/>
                </a:solidFill>
              </a:defRPr>
            </a:pPr>
            <a:r>
              <a:rPr sz="1350" b="0" i="0">
                <a:solidFill>
                  <a:srgbClr val="DFEEE7"/>
                </a:solidFill>
              </a:rPr>
              <a:t>Subscription Cleaning</a:t>
            </a:r>
          </a:p>
        </p:txBody>
      </p:sp>
    </p:spTree>
    <p:extLst>
      <p:ext uri="{BB962C8B-B14F-4D97-AF65-F5344CB8AC3E}">
        <p14:creationId xmlns:p14="http://schemas.microsoft.com/office/powerpoint/2010/main" val="12461547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2026-08-25T12:45:36.8650000Z</dcterms:created>
  <dcterms:modified xsi:type="dcterms:W3CDTF">2026-08-25T12:45:36.8650000Z</dcterms:modified>
</coreProperties>
</file>